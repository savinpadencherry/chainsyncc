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2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851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b048c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827931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24042" y="1818531"/>
            <a:ext cx="38959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ChainSync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85800" y="2428131"/>
            <a:ext cx="77724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spcBef>
                <a:spcPts val="600"/>
              </a:spcBef>
              <a:buNone/>
            </a:pPr>
            <a:r>
              <a:rPr lang="en-US" sz="16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Logistics Intelligence Platform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657350" y="2950071"/>
            <a:ext cx="58293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India's ₹8 Lakh Crore logistics inefficiency through intelligent route optimization, load planning &amp; real-time decision automation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064736" y="3757613"/>
            <a:ext cx="130111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$317B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064736" y="4168973"/>
            <a:ext cx="13011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Logistics Market 2024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3657898" y="3846016"/>
            <a:ext cx="9525" cy="38100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959353" y="3757613"/>
            <a:ext cx="131265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959353" y="4168973"/>
            <a:ext cx="13126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Cost as % of GDP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5563939" y="3846016"/>
            <a:ext cx="9525" cy="38100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66384" y="3757613"/>
            <a:ext cx="121185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6%+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5866384" y="4168973"/>
            <a:ext cx="121185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Global Benchmark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141732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Symposium 2025</a:t>
            </a:r>
            <a:endParaRPr lang="en-US" sz="750" dirty="0"/>
          </a:p>
        </p:txBody>
      </p:sp>
      <p:pic>
        <p:nvPicPr>
          <p:cNvPr id="16" name="Picture 15" descr="A blue and black logo&#10;&#10;AI-generated content may be incorrect.">
            <a:extLst>
              <a:ext uri="{FF2B5EF4-FFF2-40B4-BE49-F238E27FC236}">
                <a16:creationId xmlns:a16="http://schemas.microsoft.com/office/drawing/2014/main" id="{54768C13-FC3C-D174-60CC-C558C93CE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696" y="884525"/>
            <a:ext cx="660608" cy="660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cfa5f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228600" cy="228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6671" y="276225"/>
            <a:ext cx="135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33400" y="251520"/>
            <a:ext cx="121302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Lean Canvas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46902" y="289620"/>
            <a:ext cx="37586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ChainSync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228600" y="685800"/>
            <a:ext cx="1699171" cy="3137892"/>
          </a:xfrm>
          <a:prstGeom prst="roundRect">
            <a:avLst>
              <a:gd name="adj" fmla="val 33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2888" y="685800"/>
            <a:ext cx="0" cy="3137892"/>
          </a:xfrm>
          <a:prstGeom prst="line">
            <a:avLst/>
          </a:prstGeom>
          <a:noFill/>
          <a:ln w="285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33375" y="762000"/>
            <a:ext cx="1548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675" dirty="0"/>
          </a:p>
        </p:txBody>
      </p:sp>
      <p:sp>
        <p:nvSpPr>
          <p:cNvPr id="9" name="Text 6"/>
          <p:cNvSpPr/>
          <p:nvPr/>
        </p:nvSpPr>
        <p:spPr>
          <a:xfrm>
            <a:off x="333375" y="895350"/>
            <a:ext cx="1518196" cy="556022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 of GDP</a:t>
            </a: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logistics vs 8% globally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road freight with zero optimization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day port turnaround vs 6 hours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SME fleets lack tech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33375" y="1508522"/>
            <a:ext cx="711398" cy="118021"/>
          </a:xfrm>
          <a:prstGeom prst="roundRect">
            <a:avLst>
              <a:gd name="adj" fmla="val 3228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90525" y="1527572"/>
            <a:ext cx="60904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5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₹8L Cr inefficiency</a:t>
            </a:r>
            <a:endParaRPr lang="en-US" sz="525" dirty="0"/>
          </a:p>
        </p:txBody>
      </p:sp>
      <p:sp>
        <p:nvSpPr>
          <p:cNvPr id="12" name="Text 9"/>
          <p:cNvSpPr/>
          <p:nvPr/>
        </p:nvSpPr>
        <p:spPr>
          <a:xfrm>
            <a:off x="1975396" y="685800"/>
            <a:ext cx="1699320" cy="3137892"/>
          </a:xfrm>
          <a:prstGeom prst="roundRect">
            <a:avLst>
              <a:gd name="adj" fmla="val 33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1989683" y="685800"/>
            <a:ext cx="0" cy="3137892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80171" y="762000"/>
            <a:ext cx="15487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2080171" y="895350"/>
            <a:ext cx="1518345" cy="704552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Route Optimizer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Load Planner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Automation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Analytics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AI Assistant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080171" y="1657052"/>
            <a:ext cx="618381" cy="118021"/>
          </a:xfrm>
          <a:prstGeom prst="roundRect">
            <a:avLst>
              <a:gd name="adj" fmla="val 3228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137321" y="1676102"/>
            <a:ext cx="514162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5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 cost cut</a:t>
            </a:r>
            <a:endParaRPr lang="en-US" sz="525" dirty="0"/>
          </a:p>
        </p:txBody>
      </p:sp>
      <p:sp>
        <p:nvSpPr>
          <p:cNvPr id="18" name="Text 15"/>
          <p:cNvSpPr/>
          <p:nvPr/>
        </p:nvSpPr>
        <p:spPr>
          <a:xfrm>
            <a:off x="3722340" y="685800"/>
            <a:ext cx="1699171" cy="1545134"/>
          </a:xfrm>
          <a:prstGeom prst="roundRect">
            <a:avLst>
              <a:gd name="adj" fmla="val 36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3736628" y="685800"/>
            <a:ext cx="0" cy="1545134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827115" y="762000"/>
            <a:ext cx="1548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 VALUE PROP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3827115" y="895350"/>
            <a:ext cx="1548560" cy="1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10"/>
              </a:lnSpc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India-first AI logistics for SME fleets</a:t>
            </a:r>
            <a:endParaRPr lang="en-US" sz="675" dirty="0"/>
          </a:p>
        </p:txBody>
      </p:sp>
      <p:sp>
        <p:nvSpPr>
          <p:cNvPr id="22" name="Text 19"/>
          <p:cNvSpPr/>
          <p:nvPr/>
        </p:nvSpPr>
        <p:spPr>
          <a:xfrm>
            <a:off x="3827115" y="1026765"/>
            <a:ext cx="1518196" cy="407491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language support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2G networks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₹500/vehicle/month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469136" y="685800"/>
            <a:ext cx="1699320" cy="1545134"/>
          </a:xfrm>
          <a:prstGeom prst="roundRect">
            <a:avLst>
              <a:gd name="adj" fmla="val 36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483423" y="685800"/>
            <a:ext cx="0" cy="1545134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573911" y="762000"/>
            <a:ext cx="15487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UNFAIR ADVANTAGE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5573911" y="895350"/>
            <a:ext cx="1518345" cy="556022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road/traffic data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NLP models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mobile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associations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216080" y="685800"/>
            <a:ext cx="1699171" cy="3137892"/>
          </a:xfrm>
          <a:prstGeom prst="roundRect">
            <a:avLst>
              <a:gd name="adj" fmla="val 33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7230368" y="685800"/>
            <a:ext cx="0" cy="313789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20855" y="762000"/>
            <a:ext cx="1548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CUSTOMERS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7320855" y="895350"/>
            <a:ext cx="154856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50"/>
              </a:spcAft>
              <a:buNone/>
            </a:pPr>
            <a:r>
              <a:rPr lang="en-US" sz="5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</a:t>
            </a:r>
            <a:endParaRPr lang="en-US" sz="525" dirty="0"/>
          </a:p>
        </p:txBody>
      </p:sp>
      <p:sp>
        <p:nvSpPr>
          <p:cNvPr id="31" name="Text 28"/>
          <p:cNvSpPr/>
          <p:nvPr/>
        </p:nvSpPr>
        <p:spPr>
          <a:xfrm>
            <a:off x="7320855" y="994321"/>
            <a:ext cx="1518196" cy="407491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3PLs</a:t>
            </a: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(20-100 trucks)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distributors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7320855" y="1439912"/>
            <a:ext cx="1548560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5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SECONDARY:</a:t>
            </a:r>
            <a:endParaRPr lang="en-US" sz="525" dirty="0"/>
          </a:p>
        </p:txBody>
      </p:sp>
      <p:sp>
        <p:nvSpPr>
          <p:cNvPr id="33" name="Text 30"/>
          <p:cNvSpPr/>
          <p:nvPr/>
        </p:nvSpPr>
        <p:spPr>
          <a:xfrm>
            <a:off x="7320855" y="1538883"/>
            <a:ext cx="1518196" cy="258961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chain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7320855" y="1854994"/>
            <a:ext cx="476101" cy="118021"/>
          </a:xfrm>
          <a:prstGeom prst="roundRect">
            <a:avLst>
              <a:gd name="adj" fmla="val 3228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378005" y="1874044"/>
            <a:ext cx="369037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5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$6-7B</a:t>
            </a:r>
            <a:endParaRPr lang="en-US" sz="525" dirty="0"/>
          </a:p>
        </p:txBody>
      </p:sp>
      <p:sp>
        <p:nvSpPr>
          <p:cNvPr id="36" name="Text 33"/>
          <p:cNvSpPr/>
          <p:nvPr/>
        </p:nvSpPr>
        <p:spPr>
          <a:xfrm>
            <a:off x="3722340" y="2278559"/>
            <a:ext cx="1699171" cy="1545134"/>
          </a:xfrm>
          <a:prstGeom prst="roundRect">
            <a:avLst>
              <a:gd name="adj" fmla="val 36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3736628" y="2278559"/>
            <a:ext cx="0" cy="1545134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827115" y="2354759"/>
            <a:ext cx="1548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METRICS</a:t>
            </a:r>
            <a:endParaRPr lang="en-US" sz="675" dirty="0"/>
          </a:p>
        </p:txBody>
      </p:sp>
      <p:sp>
        <p:nvSpPr>
          <p:cNvPr id="39" name="Text 36"/>
          <p:cNvSpPr/>
          <p:nvPr/>
        </p:nvSpPr>
        <p:spPr>
          <a:xfrm>
            <a:off x="3827115" y="2488109"/>
            <a:ext cx="1518196" cy="556022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km reduction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On-time delivery rate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utilization %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and Churn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5469136" y="2278559"/>
            <a:ext cx="1699320" cy="1545134"/>
          </a:xfrm>
          <a:prstGeom prst="roundRect">
            <a:avLst>
              <a:gd name="adj" fmla="val 36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5483423" y="2278559"/>
            <a:ext cx="0" cy="1545134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573911" y="2354759"/>
            <a:ext cx="154871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CHANNELS</a:t>
            </a:r>
            <a:endParaRPr lang="en-US" sz="675" dirty="0"/>
          </a:p>
        </p:txBody>
      </p:sp>
      <p:sp>
        <p:nvSpPr>
          <p:cNvPr id="43" name="Text 40"/>
          <p:cNvSpPr/>
          <p:nvPr/>
        </p:nvSpPr>
        <p:spPr>
          <a:xfrm>
            <a:off x="5573911" y="2488109"/>
            <a:ext cx="1518345" cy="556022"/>
          </a:xfrm>
          <a:prstGeom prst="rect">
            <a:avLst/>
          </a:prstGeom>
          <a:noFill/>
          <a:ln/>
        </p:spPr>
        <p:txBody>
          <a:bodyPr wrap="square" lIns="47625" tIns="0" rIns="0" bIns="0" rtlCol="0" anchor="t"/>
          <a:lstStyle/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B2B sales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associations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partnerships</a:t>
            </a:r>
            <a:endParaRPr lang="en-US" sz="600" dirty="0"/>
          </a:p>
          <a:p>
            <a:pPr marL="47625" indent="-47625" algn="l">
              <a:lnSpc>
                <a:spcPts val="720"/>
              </a:lnSpc>
              <a:spcAft>
                <a:spcPts val="150"/>
              </a:spcAft>
              <a:buSzPct val="100000"/>
              <a:buChar char="•"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228600" y="3871317"/>
            <a:ext cx="3446115" cy="1081534"/>
          </a:xfrm>
          <a:prstGeom prst="roundRect">
            <a:avLst>
              <a:gd name="adj" fmla="val 5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242888" y="3871317"/>
            <a:ext cx="0" cy="1081534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33375" y="3947517"/>
            <a:ext cx="33304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STRUCTURE</a:t>
            </a:r>
            <a:endParaRPr lang="en-US" sz="675" dirty="0"/>
          </a:p>
        </p:txBody>
      </p:sp>
      <p:sp>
        <p:nvSpPr>
          <p:cNvPr id="47" name="Text 44"/>
          <p:cNvSpPr/>
          <p:nvPr/>
        </p:nvSpPr>
        <p:spPr>
          <a:xfrm>
            <a:off x="333375" y="4080867"/>
            <a:ext cx="592038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Sales/Mktg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33375" y="4191298"/>
            <a:ext cx="592038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Engineering</a:t>
            </a:r>
            <a:endParaRPr lang="en-US" sz="600" dirty="0"/>
          </a:p>
        </p:txBody>
      </p:sp>
      <p:sp>
        <p:nvSpPr>
          <p:cNvPr id="49" name="Text 46"/>
          <p:cNvSpPr/>
          <p:nvPr/>
        </p:nvSpPr>
        <p:spPr>
          <a:xfrm>
            <a:off x="1009055" y="4080867"/>
            <a:ext cx="38027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Cloud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1009055" y="4191298"/>
            <a:ext cx="380271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Ops</a:t>
            </a:r>
            <a:endParaRPr lang="en-US" sz="600" dirty="0"/>
          </a:p>
        </p:txBody>
      </p:sp>
      <p:sp>
        <p:nvSpPr>
          <p:cNvPr id="51" name="Text 48"/>
          <p:cNvSpPr/>
          <p:nvPr/>
        </p:nvSpPr>
        <p:spPr>
          <a:xfrm>
            <a:off x="1477119" y="4141738"/>
            <a:ext cx="720465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50"/>
              </a:spcAft>
              <a:buNone/>
            </a:pPr>
            <a:r>
              <a:rPr lang="en-US" sz="5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CAC: ₹15K | LTV: ₹90K</a:t>
            </a:r>
            <a:endParaRPr lang="en-US" sz="525" dirty="0"/>
          </a:p>
        </p:txBody>
      </p:sp>
      <p:sp>
        <p:nvSpPr>
          <p:cNvPr id="52" name="Text 49"/>
          <p:cNvSpPr/>
          <p:nvPr/>
        </p:nvSpPr>
        <p:spPr>
          <a:xfrm>
            <a:off x="3722340" y="3871317"/>
            <a:ext cx="5192911" cy="1081534"/>
          </a:xfrm>
          <a:prstGeom prst="roundRect">
            <a:avLst>
              <a:gd name="adj" fmla="val 5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0"/>
          <p:cNvSpPr/>
          <p:nvPr/>
        </p:nvSpPr>
        <p:spPr>
          <a:xfrm>
            <a:off x="3736628" y="3871317"/>
            <a:ext cx="0" cy="1081534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3827115" y="3947517"/>
            <a:ext cx="51121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STREAMS</a:t>
            </a:r>
            <a:endParaRPr lang="en-US" sz="675" dirty="0"/>
          </a:p>
        </p:txBody>
      </p:sp>
      <p:sp>
        <p:nvSpPr>
          <p:cNvPr id="55" name="Text 52"/>
          <p:cNvSpPr/>
          <p:nvPr/>
        </p:nvSpPr>
        <p:spPr>
          <a:xfrm>
            <a:off x="3827115" y="4080867"/>
            <a:ext cx="6932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3827115" y="4191298"/>
            <a:ext cx="693292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₹500-2K/vehicle/mo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4621113" y="4080867"/>
            <a:ext cx="421106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600" dirty="0"/>
          </a:p>
        </p:txBody>
      </p:sp>
      <p:sp>
        <p:nvSpPr>
          <p:cNvPr id="58" name="Text 55"/>
          <p:cNvSpPr/>
          <p:nvPr/>
        </p:nvSpPr>
        <p:spPr>
          <a:xfrm>
            <a:off x="4621113" y="4191298"/>
            <a:ext cx="421106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₹5-15L/year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5148263" y="4080867"/>
            <a:ext cx="548774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Value-share</a:t>
            </a:r>
            <a:endParaRPr lang="en-US" sz="600" dirty="0"/>
          </a:p>
        </p:txBody>
      </p:sp>
      <p:sp>
        <p:nvSpPr>
          <p:cNvPr id="60" name="Text 57"/>
          <p:cNvSpPr/>
          <p:nvPr/>
        </p:nvSpPr>
        <p:spPr>
          <a:xfrm>
            <a:off x="5148263" y="4191298"/>
            <a:ext cx="548774" cy="9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"/>
              </a:lnSpc>
              <a:spcAft>
                <a:spcPts val="150"/>
              </a:spcAft>
              <a:buNone/>
            </a:pPr>
            <a:r>
              <a:rPr lang="en-US" sz="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of savings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5800576" y="4092327"/>
            <a:ext cx="65412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50"/>
              </a:spcAft>
              <a:buNone/>
            </a:pPr>
            <a:r>
              <a:rPr lang="en-US" sz="5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18-24mo</a:t>
            </a:r>
            <a:endParaRPr lang="en-US" sz="525" dirty="0"/>
          </a:p>
        </p:txBody>
      </p:sp>
      <p:sp>
        <p:nvSpPr>
          <p:cNvPr id="62" name="Text 59"/>
          <p:cNvSpPr/>
          <p:nvPr/>
        </p:nvSpPr>
        <p:spPr>
          <a:xfrm>
            <a:off x="5800576" y="4191298"/>
            <a:ext cx="654126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spcAft>
                <a:spcPts val="150"/>
              </a:spcAft>
              <a:buNone/>
            </a:pPr>
            <a:r>
              <a:rPr lang="en-US" sz="5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 ARR: ₹12 Cr</a:t>
            </a:r>
            <a:endParaRPr lang="en-US" sz="5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0ca99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28600"/>
            <a:ext cx="209550" cy="209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3695" y="273397"/>
            <a:ext cx="1215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675" dirty="0"/>
          </a:p>
        </p:txBody>
      </p:sp>
      <p:sp>
        <p:nvSpPr>
          <p:cNvPr id="4" name="Text 1"/>
          <p:cNvSpPr/>
          <p:nvPr/>
        </p:nvSpPr>
        <p:spPr>
          <a:xfrm>
            <a:off x="514350" y="248691"/>
            <a:ext cx="2045148" cy="18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33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Canvas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592889" y="286643"/>
            <a:ext cx="328961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ChainSync</a:t>
            </a:r>
            <a:endParaRPr lang="en-US" sz="525" dirty="0"/>
          </a:p>
        </p:txBody>
      </p:sp>
      <p:sp>
        <p:nvSpPr>
          <p:cNvPr id="6" name="Text 3"/>
          <p:cNvSpPr/>
          <p:nvPr/>
        </p:nvSpPr>
        <p:spPr>
          <a:xfrm>
            <a:off x="228600" y="647700"/>
            <a:ext cx="2124075" cy="2770584"/>
          </a:xfrm>
          <a:prstGeom prst="roundRect">
            <a:avLst>
              <a:gd name="adj" fmla="val 22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28600" y="661988"/>
            <a:ext cx="2124075" cy="0"/>
          </a:xfrm>
          <a:prstGeom prst="line">
            <a:avLst/>
          </a:prstGeom>
          <a:noFill/>
          <a:ln w="28575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04800" y="742950"/>
            <a:ext cx="20111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PARTNERS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304800" y="866775"/>
            <a:ext cx="2011108" cy="6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STRATEGIC:</a:t>
            </a:r>
            <a:endParaRPr lang="en-US" sz="450" dirty="0"/>
          </a:p>
        </p:txBody>
      </p:sp>
      <p:sp>
        <p:nvSpPr>
          <p:cNvPr id="10" name="Text 7"/>
          <p:cNvSpPr/>
          <p:nvPr/>
        </p:nvSpPr>
        <p:spPr>
          <a:xfrm>
            <a:off x="304800" y="951458"/>
            <a:ext cx="1971675" cy="379809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Motors, Ashok Leyland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AIMTC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Transport Congress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BSNL/Jio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bundles</a:t>
            </a:r>
            <a:endParaRPr lang="en-US" sz="563" dirty="0"/>
          </a:p>
        </p:txBody>
      </p:sp>
      <p:sp>
        <p:nvSpPr>
          <p:cNvPr id="11" name="Text 8"/>
          <p:cNvSpPr/>
          <p:nvPr/>
        </p:nvSpPr>
        <p:spPr>
          <a:xfrm>
            <a:off x="304800" y="1359843"/>
            <a:ext cx="2011108" cy="6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Bef>
                <a:spcPts val="225"/>
              </a:spcBef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</a:t>
            </a:r>
            <a:endParaRPr lang="en-US" sz="450" dirty="0"/>
          </a:p>
        </p:txBody>
      </p:sp>
      <p:sp>
        <p:nvSpPr>
          <p:cNvPr id="12" name="Text 9"/>
          <p:cNvSpPr/>
          <p:nvPr/>
        </p:nvSpPr>
        <p:spPr>
          <a:xfrm>
            <a:off x="304800" y="1444526"/>
            <a:ext cx="1971675" cy="240506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/ MapMyIndia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/ Azure cloud</a:t>
            </a:r>
            <a:endParaRPr lang="en-US" sz="563" dirty="0"/>
          </a:p>
        </p:txBody>
      </p:sp>
      <p:sp>
        <p:nvSpPr>
          <p:cNvPr id="13" name="Text 10"/>
          <p:cNvSpPr/>
          <p:nvPr/>
        </p:nvSpPr>
        <p:spPr>
          <a:xfrm>
            <a:off x="304800" y="1713607"/>
            <a:ext cx="2011108" cy="6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Bef>
                <a:spcPts val="225"/>
              </a:spcBef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CHANNEL:</a:t>
            </a:r>
            <a:endParaRPr lang="en-US" sz="450" dirty="0"/>
          </a:p>
        </p:txBody>
      </p:sp>
      <p:sp>
        <p:nvSpPr>
          <p:cNvPr id="14" name="Text 11"/>
          <p:cNvSpPr/>
          <p:nvPr/>
        </p:nvSpPr>
        <p:spPr>
          <a:xfrm>
            <a:off x="304800" y="1798290"/>
            <a:ext cx="1971675" cy="240506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stations, Toll plazas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finance NBFCs</a:t>
            </a:r>
            <a:endParaRPr lang="en-US" sz="563" dirty="0"/>
          </a:p>
        </p:txBody>
      </p:sp>
      <p:sp>
        <p:nvSpPr>
          <p:cNvPr id="15" name="Text 12"/>
          <p:cNvSpPr/>
          <p:nvPr/>
        </p:nvSpPr>
        <p:spPr>
          <a:xfrm>
            <a:off x="2390775" y="647700"/>
            <a:ext cx="2162175" cy="1366242"/>
          </a:xfrm>
          <a:prstGeom prst="roundRect">
            <a:avLst>
              <a:gd name="adj" fmla="val 34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2390775" y="661988"/>
            <a:ext cx="2162175" cy="0"/>
          </a:xfrm>
          <a:prstGeom prst="line">
            <a:avLst/>
          </a:prstGeom>
          <a:noFill/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466975" y="742950"/>
            <a:ext cx="2049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ACTIVITIES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466975" y="866775"/>
            <a:ext cx="2009775" cy="658416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model development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optimization R&amp;D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(low-bandwidth)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onboarding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support</a:t>
            </a:r>
            <a:endParaRPr lang="en-US" sz="563" dirty="0"/>
          </a:p>
        </p:txBody>
      </p:sp>
      <p:sp>
        <p:nvSpPr>
          <p:cNvPr id="19" name="Text 16"/>
          <p:cNvSpPr/>
          <p:nvPr/>
        </p:nvSpPr>
        <p:spPr>
          <a:xfrm>
            <a:off x="4591050" y="647700"/>
            <a:ext cx="2162175" cy="2770584"/>
          </a:xfrm>
          <a:prstGeom prst="roundRect">
            <a:avLst>
              <a:gd name="adj" fmla="val 220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591050" y="661988"/>
            <a:ext cx="2162175" cy="0"/>
          </a:xfrm>
          <a:prstGeom prst="line">
            <a:avLst/>
          </a:prstGeom>
          <a:noFill/>
          <a:ln w="28575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667250" y="742950"/>
            <a:ext cx="2049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 PROPOSITIONS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667250" y="866775"/>
            <a:ext cx="2049970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logistics costs 15-25% for Indian fleet operators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667250" y="992386"/>
            <a:ext cx="2049970" cy="6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FLEET OWNERS:</a:t>
            </a:r>
            <a:endParaRPr lang="en-US" sz="450" dirty="0"/>
          </a:p>
        </p:txBody>
      </p:sp>
      <p:sp>
        <p:nvSpPr>
          <p:cNvPr id="24" name="Text 21"/>
          <p:cNvSpPr/>
          <p:nvPr/>
        </p:nvSpPr>
        <p:spPr>
          <a:xfrm>
            <a:off x="4667250" y="1077069"/>
            <a:ext cx="2009775" cy="379809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fuel cost reduction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faster route planning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traffic rerouting</a:t>
            </a:r>
            <a:endParaRPr lang="en-US" sz="563" dirty="0"/>
          </a:p>
        </p:txBody>
      </p:sp>
      <p:sp>
        <p:nvSpPr>
          <p:cNvPr id="25" name="Text 22"/>
          <p:cNvSpPr/>
          <p:nvPr/>
        </p:nvSpPr>
        <p:spPr>
          <a:xfrm>
            <a:off x="4667250" y="1485454"/>
            <a:ext cx="2049970" cy="6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Bef>
                <a:spcPts val="225"/>
              </a:spcBef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DRIVERS:</a:t>
            </a:r>
            <a:endParaRPr lang="en-US" sz="450" dirty="0"/>
          </a:p>
        </p:txBody>
      </p:sp>
      <p:sp>
        <p:nvSpPr>
          <p:cNvPr id="26" name="Text 23"/>
          <p:cNvSpPr/>
          <p:nvPr/>
        </p:nvSpPr>
        <p:spPr>
          <a:xfrm>
            <a:off x="4667250" y="1570137"/>
            <a:ext cx="2009775" cy="240506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voice navigation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mobile interface</a:t>
            </a:r>
            <a:endParaRPr lang="en-US" sz="563" dirty="0"/>
          </a:p>
        </p:txBody>
      </p:sp>
      <p:sp>
        <p:nvSpPr>
          <p:cNvPr id="27" name="Text 24"/>
          <p:cNvSpPr/>
          <p:nvPr/>
        </p:nvSpPr>
        <p:spPr>
          <a:xfrm>
            <a:off x="4667250" y="1839218"/>
            <a:ext cx="2049970" cy="65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Bef>
                <a:spcPts val="225"/>
              </a:spcBef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ENTERPRISES:</a:t>
            </a:r>
            <a:endParaRPr lang="en-US" sz="450" dirty="0"/>
          </a:p>
        </p:txBody>
      </p:sp>
      <p:sp>
        <p:nvSpPr>
          <p:cNvPr id="28" name="Text 25"/>
          <p:cNvSpPr/>
          <p:nvPr/>
        </p:nvSpPr>
        <p:spPr>
          <a:xfrm>
            <a:off x="4667250" y="1923901"/>
            <a:ext cx="2009775" cy="240506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fleet visibility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</a:t>
            </a:r>
            <a:endParaRPr lang="en-US" sz="563" dirty="0"/>
          </a:p>
        </p:txBody>
      </p:sp>
      <p:sp>
        <p:nvSpPr>
          <p:cNvPr id="29" name="Text 26"/>
          <p:cNvSpPr/>
          <p:nvPr/>
        </p:nvSpPr>
        <p:spPr>
          <a:xfrm>
            <a:off x="2390775" y="2052042"/>
            <a:ext cx="2162175" cy="1366242"/>
          </a:xfrm>
          <a:prstGeom prst="roundRect">
            <a:avLst>
              <a:gd name="adj" fmla="val 34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2390775" y="2066330"/>
            <a:ext cx="2162175" cy="0"/>
          </a:xfrm>
          <a:prstGeom prst="line">
            <a:avLst/>
          </a:prstGeom>
          <a:noFill/>
          <a:ln w="2857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2466975" y="2147292"/>
            <a:ext cx="2049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RELATIONS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2466975" y="2271117"/>
            <a:ext cx="2009775" cy="519113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App + dashboard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Enterprise accounts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Fleet network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Onboarding</a:t>
            </a:r>
            <a:endParaRPr lang="en-US" sz="563" dirty="0"/>
          </a:p>
        </p:txBody>
      </p:sp>
      <p:sp>
        <p:nvSpPr>
          <p:cNvPr id="33" name="Text 30"/>
          <p:cNvSpPr/>
          <p:nvPr/>
        </p:nvSpPr>
        <p:spPr>
          <a:xfrm>
            <a:off x="6798945" y="652714"/>
            <a:ext cx="2124075" cy="2760359"/>
          </a:xfrm>
          <a:prstGeom prst="roundRect">
            <a:avLst>
              <a:gd name="adj" fmla="val 22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6798945" y="667003"/>
            <a:ext cx="2124075" cy="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875145" y="747965"/>
            <a:ext cx="2011108" cy="103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SEGMENTS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6875145" y="871790"/>
            <a:ext cx="2011108" cy="79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</a:t>
            </a:r>
            <a:endParaRPr lang="en-US" sz="450" dirty="0"/>
          </a:p>
        </p:txBody>
      </p:sp>
      <p:sp>
        <p:nvSpPr>
          <p:cNvPr id="37" name="Text 34"/>
          <p:cNvSpPr/>
          <p:nvPr/>
        </p:nvSpPr>
        <p:spPr>
          <a:xfrm>
            <a:off x="6875145" y="956473"/>
            <a:ext cx="1971675" cy="289602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3PL Providers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(20-100 trucks)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₹10-100 Cr/year</a:t>
            </a:r>
            <a:endParaRPr lang="en-US" sz="563" dirty="0"/>
          </a:p>
        </p:txBody>
      </p:sp>
      <p:sp>
        <p:nvSpPr>
          <p:cNvPr id="38" name="Text 35"/>
          <p:cNvSpPr/>
          <p:nvPr/>
        </p:nvSpPr>
        <p:spPr>
          <a:xfrm>
            <a:off x="6875145" y="1225555"/>
            <a:ext cx="2011108" cy="79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Bef>
                <a:spcPts val="225"/>
              </a:spcBef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</a:t>
            </a:r>
            <a:endParaRPr lang="en-US" sz="450" dirty="0"/>
          </a:p>
        </p:txBody>
      </p:sp>
      <p:sp>
        <p:nvSpPr>
          <p:cNvPr id="39" name="Text 36"/>
          <p:cNvSpPr/>
          <p:nvPr/>
        </p:nvSpPr>
        <p:spPr>
          <a:xfrm>
            <a:off x="6875145" y="1310238"/>
            <a:ext cx="1971675" cy="289602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logistics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distribution</a:t>
            </a:r>
            <a:endParaRPr lang="en-US" sz="563" dirty="0"/>
          </a:p>
        </p:txBody>
      </p:sp>
      <p:sp>
        <p:nvSpPr>
          <p:cNvPr id="40" name="Text 37"/>
          <p:cNvSpPr/>
          <p:nvPr/>
        </p:nvSpPr>
        <p:spPr>
          <a:xfrm>
            <a:off x="6875145" y="1579319"/>
            <a:ext cx="2011108" cy="79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8"/>
              </a:lnSpc>
              <a:spcBef>
                <a:spcPts val="225"/>
              </a:spcBef>
              <a:spcAft>
                <a:spcPts val="150"/>
              </a:spcAft>
              <a:buNone/>
            </a:pPr>
            <a:r>
              <a:rPr lang="en-US" sz="4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</a:t>
            </a:r>
            <a:endParaRPr lang="en-US" sz="450" dirty="0"/>
          </a:p>
        </p:txBody>
      </p:sp>
      <p:sp>
        <p:nvSpPr>
          <p:cNvPr id="41" name="Text 38"/>
          <p:cNvSpPr/>
          <p:nvPr/>
        </p:nvSpPr>
        <p:spPr>
          <a:xfrm>
            <a:off x="6875145" y="1664002"/>
            <a:ext cx="1971675" cy="121862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E-commerce, Cold chain</a:t>
            </a:r>
            <a:endParaRPr lang="en-US" sz="563" dirty="0"/>
          </a:p>
        </p:txBody>
      </p:sp>
      <p:sp>
        <p:nvSpPr>
          <p:cNvPr id="43" name="Text 40"/>
          <p:cNvSpPr/>
          <p:nvPr/>
        </p:nvSpPr>
        <p:spPr>
          <a:xfrm>
            <a:off x="6922770" y="1831880"/>
            <a:ext cx="1913954" cy="92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5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</a:t>
            </a:r>
            <a:r>
              <a:rPr lang="en-US" sz="5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$317B</a:t>
            </a:r>
            <a:endParaRPr lang="en-US" sz="525" dirty="0"/>
          </a:p>
        </p:txBody>
      </p:sp>
      <p:sp>
        <p:nvSpPr>
          <p:cNvPr id="44" name="Text 41"/>
          <p:cNvSpPr/>
          <p:nvPr/>
        </p:nvSpPr>
        <p:spPr>
          <a:xfrm>
            <a:off x="6922770" y="1908527"/>
            <a:ext cx="1913954" cy="92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5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</a:t>
            </a:r>
            <a:r>
              <a:rPr lang="en-US" sz="5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$6-7B</a:t>
            </a:r>
            <a:endParaRPr lang="en-US" sz="525" dirty="0"/>
          </a:p>
        </p:txBody>
      </p:sp>
      <p:sp>
        <p:nvSpPr>
          <p:cNvPr id="45" name="Text 42"/>
          <p:cNvSpPr/>
          <p:nvPr/>
        </p:nvSpPr>
        <p:spPr>
          <a:xfrm>
            <a:off x="228600" y="3456384"/>
            <a:ext cx="4317901" cy="888057"/>
          </a:xfrm>
          <a:prstGeom prst="roundRect">
            <a:avLst>
              <a:gd name="adj" fmla="val 53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228600" y="3470672"/>
            <a:ext cx="4317901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04800" y="3551634"/>
            <a:ext cx="41960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RESOURCES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04800" y="3675459"/>
            <a:ext cx="4113805" cy="519113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AI/ML models, algorithms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 road/traffic datasets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engineers, logistics experts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Proprietary optimization engine</a:t>
            </a:r>
            <a:endParaRPr lang="en-US" sz="563" dirty="0"/>
          </a:p>
        </p:txBody>
      </p:sp>
      <p:sp>
        <p:nvSpPr>
          <p:cNvPr id="49" name="Text 46"/>
          <p:cNvSpPr/>
          <p:nvPr/>
        </p:nvSpPr>
        <p:spPr>
          <a:xfrm>
            <a:off x="4597500" y="3456384"/>
            <a:ext cx="4324350" cy="888057"/>
          </a:xfrm>
          <a:prstGeom prst="roundRect">
            <a:avLst>
              <a:gd name="adj" fmla="val 53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7"/>
          <p:cNvSpPr/>
          <p:nvPr/>
        </p:nvSpPr>
        <p:spPr>
          <a:xfrm>
            <a:off x="4597500" y="3470672"/>
            <a:ext cx="4324350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616273" y="3551634"/>
            <a:ext cx="40999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CHANNELS</a:t>
            </a:r>
            <a:endParaRPr lang="en-US" sz="600" dirty="0"/>
          </a:p>
        </p:txBody>
      </p:sp>
      <p:sp>
        <p:nvSpPr>
          <p:cNvPr id="52" name="Text 49"/>
          <p:cNvSpPr/>
          <p:nvPr/>
        </p:nvSpPr>
        <p:spPr>
          <a:xfrm>
            <a:off x="4595703" y="3675459"/>
            <a:ext cx="4019550" cy="519113"/>
          </a:xfrm>
          <a:prstGeom prst="rect">
            <a:avLst/>
          </a:prstGeom>
          <a:noFill/>
          <a:ln/>
        </p:spPr>
        <p:txBody>
          <a:bodyPr wrap="square" lIns="42863" tIns="0" rIns="0" bIns="0" rtlCol="0" anchor="t"/>
          <a:lstStyle/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B2B sales (enterprise)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OEMs, associations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Website, LinkedIn</a:t>
            </a:r>
            <a:endParaRPr lang="en-US" sz="563" dirty="0"/>
          </a:p>
          <a:p>
            <a:pPr marL="42863" indent="-42863" algn="l">
              <a:lnSpc>
                <a:spcPts val="647"/>
              </a:lnSpc>
              <a:spcAft>
                <a:spcPts val="150"/>
              </a:spcAft>
              <a:buSzPct val="100000"/>
              <a:buChar char="•"/>
            </a:pPr>
            <a:r>
              <a:rPr lang="en-US" sz="563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Events:</a:t>
            </a: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Transport expos</a:t>
            </a:r>
            <a:endParaRPr lang="en-US" sz="563" dirty="0"/>
          </a:p>
        </p:txBody>
      </p:sp>
      <p:sp>
        <p:nvSpPr>
          <p:cNvPr id="53" name="Text 50"/>
          <p:cNvSpPr/>
          <p:nvPr/>
        </p:nvSpPr>
        <p:spPr>
          <a:xfrm>
            <a:off x="228600" y="4382542"/>
            <a:ext cx="4324350" cy="589508"/>
          </a:xfrm>
          <a:prstGeom prst="roundRect">
            <a:avLst>
              <a:gd name="adj" fmla="val 80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228600" y="4396829"/>
            <a:ext cx="4324350" cy="0"/>
          </a:xfrm>
          <a:prstGeom prst="line">
            <a:avLst/>
          </a:prstGeom>
          <a:noFill/>
          <a:ln w="28575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304800" y="4477792"/>
            <a:ext cx="42553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STRUCTURE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304800" y="4601617"/>
            <a:ext cx="962290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(60%)</a:t>
            </a:r>
            <a:endParaRPr lang="en-US" sz="563" dirty="0"/>
          </a:p>
        </p:txBody>
      </p:sp>
      <p:sp>
        <p:nvSpPr>
          <p:cNvPr id="57" name="Text 54"/>
          <p:cNvSpPr/>
          <p:nvPr/>
        </p:nvSpPr>
        <p:spPr>
          <a:xfrm>
            <a:off x="304800" y="4702820"/>
            <a:ext cx="962290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Engineering: ₹80L/yr</a:t>
            </a:r>
            <a:endParaRPr lang="en-US" sz="563" dirty="0"/>
          </a:p>
        </p:txBody>
      </p:sp>
      <p:sp>
        <p:nvSpPr>
          <p:cNvPr id="58" name="Text 55"/>
          <p:cNvSpPr/>
          <p:nvPr/>
        </p:nvSpPr>
        <p:spPr>
          <a:xfrm>
            <a:off x="304800" y="4804023"/>
            <a:ext cx="962290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 ₹40L/yr | Ops: ₹20L/yr</a:t>
            </a:r>
            <a:endParaRPr lang="en-US" sz="563" dirty="0"/>
          </a:p>
        </p:txBody>
      </p:sp>
      <p:sp>
        <p:nvSpPr>
          <p:cNvPr id="59" name="Text 56"/>
          <p:cNvSpPr/>
          <p:nvPr/>
        </p:nvSpPr>
        <p:spPr>
          <a:xfrm>
            <a:off x="1400621" y="4652218"/>
            <a:ext cx="1158877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(40%)</a:t>
            </a:r>
            <a:endParaRPr lang="en-US" sz="563" dirty="0"/>
          </a:p>
        </p:txBody>
      </p:sp>
      <p:sp>
        <p:nvSpPr>
          <p:cNvPr id="60" name="Text 57"/>
          <p:cNvSpPr/>
          <p:nvPr/>
        </p:nvSpPr>
        <p:spPr>
          <a:xfrm>
            <a:off x="1400621" y="4753421"/>
            <a:ext cx="1158877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Sales: 10% rev | Marketing: ₹30L/yr</a:t>
            </a:r>
            <a:endParaRPr lang="en-US" sz="563" dirty="0"/>
          </a:p>
        </p:txBody>
      </p:sp>
      <p:sp>
        <p:nvSpPr>
          <p:cNvPr id="61" name="Text 58"/>
          <p:cNvSpPr/>
          <p:nvPr/>
        </p:nvSpPr>
        <p:spPr>
          <a:xfrm>
            <a:off x="2689175" y="4638675"/>
            <a:ext cx="795338" cy="229493"/>
          </a:xfrm>
          <a:prstGeom prst="roundRect">
            <a:avLst>
              <a:gd name="adj" fmla="val 1245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765375" y="4676775"/>
            <a:ext cx="655796" cy="7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Burn: ₹1.5 Cr</a:t>
            </a:r>
            <a:endParaRPr lang="en-US" sz="525" dirty="0"/>
          </a:p>
        </p:txBody>
      </p:sp>
      <p:sp>
        <p:nvSpPr>
          <p:cNvPr id="63" name="Text 60"/>
          <p:cNvSpPr/>
          <p:nvPr/>
        </p:nvSpPr>
        <p:spPr>
          <a:xfrm>
            <a:off x="2765375" y="4753421"/>
            <a:ext cx="655796" cy="7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4"/>
              </a:lnSpc>
              <a:buNone/>
            </a:pPr>
            <a:r>
              <a:rPr lang="en-US" sz="5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70%+</a:t>
            </a:r>
            <a:endParaRPr lang="en-US" sz="525" dirty="0"/>
          </a:p>
        </p:txBody>
      </p:sp>
      <p:sp>
        <p:nvSpPr>
          <p:cNvPr id="64" name="Text 61"/>
          <p:cNvSpPr/>
          <p:nvPr/>
        </p:nvSpPr>
        <p:spPr>
          <a:xfrm>
            <a:off x="4591050" y="4382542"/>
            <a:ext cx="4324350" cy="589508"/>
          </a:xfrm>
          <a:prstGeom prst="roundRect">
            <a:avLst>
              <a:gd name="adj" fmla="val 80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Shape 62"/>
          <p:cNvSpPr/>
          <p:nvPr/>
        </p:nvSpPr>
        <p:spPr>
          <a:xfrm>
            <a:off x="4591050" y="4396829"/>
            <a:ext cx="432435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4667250" y="4477792"/>
            <a:ext cx="42553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STREAMS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4667250" y="4601617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(70%)</a:t>
            </a:r>
            <a:endParaRPr lang="en-US" sz="563" dirty="0"/>
          </a:p>
        </p:txBody>
      </p:sp>
      <p:sp>
        <p:nvSpPr>
          <p:cNvPr id="68" name="Text 65"/>
          <p:cNvSpPr/>
          <p:nvPr/>
        </p:nvSpPr>
        <p:spPr>
          <a:xfrm>
            <a:off x="4667250" y="4702820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Starter: ₹500/vehicle/mo</a:t>
            </a:r>
            <a:endParaRPr lang="en-US" sz="563" dirty="0"/>
          </a:p>
        </p:txBody>
      </p:sp>
      <p:sp>
        <p:nvSpPr>
          <p:cNvPr id="69" name="Text 66"/>
          <p:cNvSpPr/>
          <p:nvPr/>
        </p:nvSpPr>
        <p:spPr>
          <a:xfrm>
            <a:off x="4667250" y="4804023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₹1,200/vehicle/mo</a:t>
            </a:r>
            <a:endParaRPr lang="en-US" sz="563" dirty="0"/>
          </a:p>
        </p:txBody>
      </p:sp>
      <p:sp>
        <p:nvSpPr>
          <p:cNvPr id="70" name="Text 67"/>
          <p:cNvSpPr/>
          <p:nvPr/>
        </p:nvSpPr>
        <p:spPr>
          <a:xfrm>
            <a:off x="5882283" y="4601617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(20%)</a:t>
            </a:r>
            <a:endParaRPr lang="en-US" sz="563" dirty="0"/>
          </a:p>
        </p:txBody>
      </p:sp>
      <p:sp>
        <p:nvSpPr>
          <p:cNvPr id="71" name="Text 68"/>
          <p:cNvSpPr/>
          <p:nvPr/>
        </p:nvSpPr>
        <p:spPr>
          <a:xfrm>
            <a:off x="5882283" y="4702820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₹5-15 Lakh/year</a:t>
            </a:r>
            <a:endParaRPr lang="en-US" sz="563" dirty="0"/>
          </a:p>
        </p:txBody>
      </p:sp>
      <p:sp>
        <p:nvSpPr>
          <p:cNvPr id="72" name="Text 69"/>
          <p:cNvSpPr/>
          <p:nvPr/>
        </p:nvSpPr>
        <p:spPr>
          <a:xfrm>
            <a:off x="5882283" y="4804023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vehicle fleets</a:t>
            </a:r>
            <a:endParaRPr lang="en-US" sz="563" dirty="0"/>
          </a:p>
        </p:txBody>
      </p:sp>
      <p:sp>
        <p:nvSpPr>
          <p:cNvPr id="73" name="Text 70"/>
          <p:cNvSpPr/>
          <p:nvPr/>
        </p:nvSpPr>
        <p:spPr>
          <a:xfrm>
            <a:off x="7097316" y="4652218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VALUE-SHARE (10%)</a:t>
            </a:r>
            <a:endParaRPr lang="en-US" sz="563" dirty="0"/>
          </a:p>
        </p:txBody>
      </p:sp>
      <p:sp>
        <p:nvSpPr>
          <p:cNvPr id="74" name="Text 71"/>
          <p:cNvSpPr/>
          <p:nvPr/>
        </p:nvSpPr>
        <p:spPr>
          <a:xfrm>
            <a:off x="7097316" y="4753421"/>
            <a:ext cx="1103316" cy="82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47"/>
              </a:lnSpc>
              <a:spcAft>
                <a:spcPts val="150"/>
              </a:spcAft>
              <a:buNone/>
            </a:pPr>
            <a:r>
              <a:rPr lang="en-US" sz="563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of savings</a:t>
            </a:r>
            <a:endParaRPr lang="en-US" sz="563" dirty="0"/>
          </a:p>
        </p:txBody>
      </p:sp>
      <p:sp>
        <p:nvSpPr>
          <p:cNvPr id="75" name="Text 72"/>
          <p:cNvSpPr/>
          <p:nvPr/>
        </p:nvSpPr>
        <p:spPr>
          <a:xfrm>
            <a:off x="8312348" y="4627811"/>
            <a:ext cx="527000" cy="251222"/>
          </a:xfrm>
          <a:prstGeom prst="roundRect">
            <a:avLst>
              <a:gd name="adj" fmla="val 1137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3"/>
          <p:cNvSpPr/>
          <p:nvPr/>
        </p:nvSpPr>
        <p:spPr>
          <a:xfrm>
            <a:off x="8388548" y="4665911"/>
            <a:ext cx="382092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Y1:</a:t>
            </a: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₹60L</a:t>
            </a:r>
            <a:endParaRPr lang="en-US" sz="600" dirty="0"/>
          </a:p>
        </p:txBody>
      </p:sp>
      <p:sp>
        <p:nvSpPr>
          <p:cNvPr id="77" name="Text 74"/>
          <p:cNvSpPr/>
          <p:nvPr/>
        </p:nvSpPr>
        <p:spPr>
          <a:xfrm>
            <a:off x="8388548" y="4753421"/>
            <a:ext cx="382092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90"/>
              </a:lnSpc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Y3:</a:t>
            </a:r>
            <a:r>
              <a:rPr lang="en-US" sz="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₹12 Cr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4723" y="99465"/>
            <a:ext cx="54794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Financial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82880"/>
            <a:ext cx="1097280" cy="2743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2011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CS ChainSync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94360"/>
            <a:ext cx="5029200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612648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628"/>
                </a:solidFill>
                <a:latin typeface="Arial"/>
              </a:defRPr>
            </a:pPr>
            <a:r>
              <a:rPr dirty="0"/>
              <a:t>5-YEAR PROJECTION (Rs. Lakhs)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868680"/>
            <a:ext cx="5029200" cy="10515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9144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914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Y1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914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914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Y3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914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Y4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914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Y5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1430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143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Arial"/>
              </a:defRPr>
            </a:pPr>
            <a:r>
              <a:t>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1143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Arial"/>
              </a:defRPr>
            </a:pPr>
            <a:r>
              <a:t>245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1143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Arial"/>
              </a:defRPr>
            </a:pPr>
            <a:r>
              <a:t>503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1143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Arial"/>
              </a:defRPr>
            </a:pPr>
            <a:r>
              <a:t>835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1143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AA"/>
                </a:solidFill>
                <a:latin typeface="Arial"/>
              </a:defRPr>
            </a:pPr>
            <a:r>
              <a:t>1,225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3716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1371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1371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368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1371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712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1371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1,133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3716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1,598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60020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9AA"/>
                </a:solidFill>
                <a:latin typeface="Arial"/>
              </a:defRPr>
            </a:pPr>
            <a:r>
              <a:t>Vehicles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1600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1,250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1600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3,984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1600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8,233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1600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13,848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16002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20,544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011680"/>
            <a:ext cx="1554480" cy="5943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28600" y="2057400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99AA"/>
                </a:solidFill>
                <a:latin typeface="Arial"/>
              </a:defRPr>
            </a:pPr>
            <a:r>
              <a:t>5-YR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2240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AA"/>
                </a:solidFill>
                <a:latin typeface="Arial"/>
              </a:defRPr>
            </a:pPr>
            <a:r>
              <a:t>Rs.29.5 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2011680"/>
            <a:ext cx="1554480" cy="5943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2057400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99AA"/>
                </a:solidFill>
                <a:latin typeface="Arial"/>
              </a:defRPr>
            </a:pPr>
            <a:r>
              <a:t>BREAKEVEN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2240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B35"/>
                </a:solidFill>
                <a:latin typeface="Arial"/>
              </a:defRPr>
            </a:pPr>
            <a:r>
              <a:t>Month 24-30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2011680"/>
            <a:ext cx="1554480" cy="5943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20440" y="2057400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99AA"/>
                </a:solidFill>
                <a:latin typeface="Arial"/>
              </a:defRPr>
            </a:pPr>
            <a:r>
              <a:t>5-YR ROI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2240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9EFF"/>
                </a:solidFill>
                <a:latin typeface="Arial"/>
              </a:defRPr>
            </a:pPr>
            <a:r>
              <a:t>1,181%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2697480"/>
            <a:ext cx="5029200" cy="7772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2743200"/>
            <a:ext cx="2743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AA"/>
                </a:solidFill>
                <a:latin typeface="Arial"/>
              </a:defRPr>
            </a:pPr>
            <a:r>
              <a:t>PRICING TIERS (Per Vehicle/Month)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2953512"/>
            <a:ext cx="1143000" cy="4572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29718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99AA"/>
                </a:solidFill>
                <a:latin typeface="Arial"/>
              </a:defRPr>
            </a:pPr>
            <a:r>
              <a:t>Starter 1-5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3133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Rs.749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08760" y="2953512"/>
            <a:ext cx="1143000" cy="4572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08760" y="29718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99AA"/>
                </a:solidFill>
                <a:latin typeface="Arial"/>
              </a:defRPr>
            </a:pPr>
            <a:r>
              <a:t>Pro 6-20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3133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Rs.599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2953512"/>
            <a:ext cx="1143000" cy="4572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743200" y="29718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99AA"/>
                </a:solidFill>
                <a:latin typeface="Arial"/>
              </a:defRPr>
            </a:pPr>
            <a:r>
              <a:t>Ent 21-50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31402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Rs.449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77639" y="2953512"/>
            <a:ext cx="1143000" cy="45720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77639" y="29718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899AA"/>
                </a:solidFill>
                <a:latin typeface="Arial"/>
              </a:defRPr>
            </a:pPr>
            <a:r>
              <a:t>Ent+ 51+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77639" y="31330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dirty="0"/>
              <a:t>Rs.349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94960" y="594360"/>
            <a:ext cx="347472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40680" y="6126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UNIT ECONOMICS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868680"/>
            <a:ext cx="3474720" cy="10515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86400" y="91440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CAC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0" y="1051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Rs.12,000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91440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ARPU/Year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40" y="1051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Rs.73,000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0" y="123444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LTV (3yr)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0" y="1371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Rs.1,86,000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123444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LTV:CAC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13716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Arial"/>
              </a:defRPr>
            </a:pPr>
            <a:r>
              <a:t>8.5:1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155448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Payback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1691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2 months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1554480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Gross Margin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78040" y="16916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72%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94960" y="2011680"/>
            <a:ext cx="3474720" cy="5943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486400" y="202996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9EFF"/>
                </a:solidFill>
                <a:latin typeface="Arial"/>
              </a:defRPr>
            </a:pPr>
            <a:r>
              <a:t>INVESTMENT REQUIRED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2194560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Initial Development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23317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Rs.1.2 Crores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3760" y="2194560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t>Runway to Breakeven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3760" y="23317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Rs.2.1 Crores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94960" y="2697480"/>
            <a:ext cx="3474720" cy="7772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86400" y="271576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AA"/>
                </a:solidFill>
                <a:latin typeface="Arial"/>
              </a:defRPr>
            </a:pPr>
            <a:r>
              <a:t>WHY WE WIN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287316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rPr dirty="0"/>
              <a:t>50-75% cheaper than competition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304884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rPr dirty="0"/>
              <a:t>India-first: Vernacular + 2G support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0" y="3231720"/>
            <a:ext cx="32918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rPr dirty="0"/>
              <a:t>Self-serve model = 10x lower CAC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2880" y="4434840"/>
            <a:ext cx="8686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99AA"/>
                </a:solidFill>
                <a:latin typeface="Arial"/>
              </a:defRPr>
            </a:pPr>
            <a:r>
              <a:rPr dirty="0"/>
              <a:t>Source: Industry benchmarks (Mordor Intelligence, OpenView SaaS metrics), competitor pricing from public 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45720" cy="274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27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rPr dirty="0"/>
              <a:t>Customer Acquisition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82880"/>
            <a:ext cx="1097280" cy="2743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0" y="2011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Arial"/>
              </a:defRPr>
            </a:pPr>
            <a:r>
              <a:t>CS ChainSync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566928"/>
            <a:ext cx="4206240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58521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628"/>
                </a:solidFill>
                <a:latin typeface="Arial"/>
              </a:defRPr>
            </a:pPr>
            <a:r>
              <a:t>HOW WE ACQUIRE 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841248"/>
            <a:ext cx="4206240" cy="6583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886968"/>
            <a:ext cx="228600" cy="2011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88696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A162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86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Arial"/>
              </a:defRPr>
            </a:pPr>
            <a:r>
              <a:t>Digital-First Self-Serve (60%)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097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SEO for 'fleet management software India', Google/Meta ads, WhatsApp Business onboarding. CAC: Rs.8,000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1554480"/>
            <a:ext cx="4206240" cy="6583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1600200"/>
            <a:ext cx="228600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1600200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600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Arial"/>
              </a:defRPr>
            </a:pPr>
            <a:r>
              <a:t>Transport Association Partnerships (25%)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105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AIMTC (4L members), state associations. Co-branded workshops, member discounts. CAC: Rs.5,000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267712"/>
            <a:ext cx="4206240" cy="65836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2313432"/>
            <a:ext cx="228600" cy="201168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2313432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134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9EFF"/>
                </a:solidFill>
                <a:latin typeface="Arial"/>
              </a:defRPr>
            </a:pPr>
            <a:r>
              <a:t>OEM and Dealer Network (15%)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5237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Tata Motors, Ashok Leyland dealers. Pre-installed on new vehicles. Revenue share. CAC: Rs.3,000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3017520"/>
            <a:ext cx="4206240" cy="713232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002915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rPr dirty="0"/>
              <a:t>GO-TO-MARKET TIMELINE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98495"/>
            <a:ext cx="960120" cy="43891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3216783"/>
            <a:ext cx="960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Arial"/>
              </a:defRPr>
            </a:pPr>
            <a:r>
              <a:t>M1-6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353943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10 pilots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472815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Mumbai-Pune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25880" y="3211195"/>
            <a:ext cx="960120" cy="43891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3229483"/>
            <a:ext cx="960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6B35"/>
                </a:solidFill>
                <a:latin typeface="Arial"/>
              </a:defRPr>
            </a:pPr>
            <a:r>
              <a:rPr dirty="0"/>
              <a:t>M7-12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3357118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rPr dirty="0"/>
              <a:t>West India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479165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rPr dirty="0"/>
              <a:t>50 customers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39" y="3214370"/>
            <a:ext cx="960120" cy="43891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77439" y="3232658"/>
            <a:ext cx="960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A9EFF"/>
                </a:solidFill>
                <a:latin typeface="Arial"/>
              </a:defRPr>
            </a:pPr>
            <a:r>
              <a:rPr dirty="0"/>
              <a:t>Y2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3360293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rPr dirty="0"/>
              <a:t>National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39" y="3482340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rPr dirty="0"/>
              <a:t>expansion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6120" y="3208780"/>
            <a:ext cx="960120" cy="43891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16120" y="3227068"/>
            <a:ext cx="960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B59B6"/>
                </a:solidFill>
                <a:latin typeface="Arial"/>
              </a:defRPr>
            </a:pPr>
            <a:r>
              <a:t>Y3+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6120" y="3351349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rPr dirty="0"/>
              <a:t>Platform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6120" y="3470221"/>
            <a:ext cx="9601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rPr dirty="0"/>
              <a:t>ecosystem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66928"/>
            <a:ext cx="429768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17720" y="58521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WHY THEY CHOOSE US OVER COMPETITION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841248"/>
            <a:ext cx="4297680" cy="71323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63440" y="86868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Arial"/>
              </a:defRPr>
            </a:pPr>
            <a:r>
              <a:t>PRICE: 50-75% Lower Than Competition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1078992"/>
            <a:ext cx="1554480" cy="411480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63440" y="1097280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6B35"/>
                </a:solidFill>
                <a:latin typeface="Arial"/>
              </a:defRPr>
            </a:pPr>
            <a:r>
              <a:t>Locus/FarEye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26187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35"/>
                </a:solidFill>
                <a:latin typeface="Arial"/>
              </a:defRPr>
            </a:pPr>
            <a:r>
              <a:t>Rs.1,500-3,000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11887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99AA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1078992"/>
            <a:ext cx="1554480" cy="411480"/>
          </a:xfrm>
          <a:prstGeom prst="rect">
            <a:avLst/>
          </a:prstGeom>
          <a:solidFill>
            <a:srgbClr val="00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49440" y="1097280"/>
            <a:ext cx="1554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4AA"/>
                </a:solidFill>
                <a:latin typeface="Arial"/>
              </a:defRPr>
            </a:pPr>
            <a:r>
              <a:t>ChainSync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26187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  <a:latin typeface="Arial"/>
              </a:defRPr>
            </a:pPr>
            <a:r>
              <a:t>Rs.349-749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0" y="1600200"/>
            <a:ext cx="4297680" cy="62179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63440" y="1627632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Arial"/>
              </a:defRPr>
            </a:pPr>
            <a:r>
              <a:t>INDIA-FIRST: Built for Ground Reality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63440" y="1828800"/>
            <a:ext cx="1325880" cy="347472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3440" y="1847088"/>
            <a:ext cx="1325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Vernacular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2011680"/>
            <a:ext cx="1325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99AA"/>
                </a:solidFill>
                <a:latin typeface="Arial"/>
              </a:defRPr>
            </a:pPr>
            <a:r>
              <a:t>Hindi, Tamil, Telugu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59" y="1828800"/>
            <a:ext cx="1325880" cy="347472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80759" y="1847088"/>
            <a:ext cx="1325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Works on 2G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80759" y="2011680"/>
            <a:ext cx="1325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99AA"/>
                </a:solidFill>
                <a:latin typeface="Arial"/>
              </a:defRPr>
            </a:pPr>
            <a:r>
              <a:t>Offline-first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79" y="1828800"/>
            <a:ext cx="1325880" cy="347472"/>
          </a:xfrm>
          <a:prstGeom prst="rect">
            <a:avLst/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98079" y="1847088"/>
            <a:ext cx="1325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India Roads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8079" y="2011680"/>
            <a:ext cx="132588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99AA"/>
                </a:solidFill>
                <a:latin typeface="Arial"/>
              </a:defRPr>
            </a:pPr>
            <a:r>
              <a:t>Traffic, tolls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2267712"/>
            <a:ext cx="4297680" cy="53035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663440" y="2286000"/>
            <a:ext cx="4114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9EFF"/>
                </a:solidFill>
                <a:latin typeface="Arial"/>
              </a:defRPr>
            </a:pPr>
            <a:r>
              <a:t>CLEAR ROI: Savings in 30 Days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63440" y="24871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15-25% fuel savings = Rs.3,000-5,000/veh saved. Cost Rs.349-749. ROI 4-10x.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0" y="2834640"/>
            <a:ext cx="4297680" cy="896112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663440" y="28529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4AA"/>
                </a:solidFill>
                <a:latin typeface="Arial"/>
              </a:defRPr>
            </a:pPr>
            <a:r>
              <a:t>DEFENSIBLE MOAT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3440" y="3063240"/>
            <a:ext cx="1325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Network Effects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63440" y="32186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99AA"/>
                </a:solidFill>
                <a:latin typeface="Arial"/>
              </a:defRPr>
            </a:pPr>
            <a:r>
              <a:t>More fleets = better 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59" y="3063240"/>
            <a:ext cx="1325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Data Advantage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0759" y="32186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99AA"/>
                </a:solidFill>
                <a:latin typeface="Arial"/>
              </a:defRPr>
            </a:pPr>
            <a:r>
              <a:t>India ML models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79" y="3063240"/>
            <a:ext cx="1325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Cost Structure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8079" y="321868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99AA"/>
                </a:solidFill>
                <a:latin typeface="Arial"/>
              </a:defRPr>
            </a:pPr>
            <a:r>
              <a:t>Can't be matched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0" y="349300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AA"/>
                </a:solidFill>
                <a:latin typeface="Arial"/>
              </a:defRPr>
            </a:pPr>
            <a:r>
              <a:t>Blended CAC: Rs.6,500 | CAC Payback: &lt;2 months | LTV:CAC 8.5:1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940</Words>
  <Application>Microsoft Macintosh PowerPoint</Application>
  <PresentationFormat>On-screen Show (16:9)</PresentationFormat>
  <Paragraphs>264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ChainSync - Business Canvas</dc:title>
  <dc:subject>Lean Canvas &amp; Business Model Canvas</dc:subject>
  <dc:creator>ChainSync Team</dc:creator>
  <cp:lastModifiedBy>savin padencherry</cp:lastModifiedBy>
  <cp:revision>4</cp:revision>
  <dcterms:created xsi:type="dcterms:W3CDTF">2025-12-06T10:49:17Z</dcterms:created>
  <dcterms:modified xsi:type="dcterms:W3CDTF">2025-12-06T17:33:32Z</dcterms:modified>
</cp:coreProperties>
</file>