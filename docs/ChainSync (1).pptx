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jpe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984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Indian Logistics Market Growth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Logistics Market Size (₹B)</c:v>
                </c:pt>
              </c:strCache>
            </c:strRef>
          </c:tx>
          <c:spPr>
            <a:ln w="25400" cap="flat">
              <a:solidFill>
                <a:srgbClr val="A9C5E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A9C5EB"/>
              </a:solidFill>
              <a:ln w="9525" cap="flat">
                <a:solidFill>
                  <a:srgbClr val="A9C5EB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2024</c:v>
                </c:pt>
                <c:pt idx="1">
                  <c:v>2026</c:v>
                </c:pt>
                <c:pt idx="2">
                  <c:v>2028</c:v>
                </c:pt>
                <c:pt idx="3">
                  <c:v>2030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300</c:v>
                </c:pt>
                <c:pt idx="1">
                  <c:v>350</c:v>
                </c:pt>
                <c:pt idx="2">
                  <c:v>400</c:v>
                </c:pt>
                <c:pt idx="3">
                  <c:v>484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63A-7B43-AF01-A23E8F03EC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Year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A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₹ Billion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A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9FAFC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9FA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5‑Year Revenue Projection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 crores)</c:v>
                </c:pt>
              </c:strCache>
            </c:strRef>
          </c:tx>
          <c:spPr>
            <a:solidFill>
              <a:srgbClr val="E5A96B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Year 1</c:v>
                </c:pt>
                <c:pt idx="1">
                  <c:v>Year 2</c:v>
                </c:pt>
                <c:pt idx="2">
                  <c:v>Year 3</c:v>
                </c:pt>
                <c:pt idx="3">
                  <c:v>Year 4</c:v>
                </c:pt>
                <c:pt idx="4">
                  <c:v>Year 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3.4</c:v>
                </c:pt>
                <c:pt idx="1">
                  <c:v>9.1999999999999993</c:v>
                </c:pt>
                <c:pt idx="2">
                  <c:v>18</c:v>
                </c:pt>
                <c:pt idx="3">
                  <c:v>27</c:v>
                </c:pt>
                <c:pt idx="4">
                  <c:v>36.9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6-CC49-9016-2A7F2F3D87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Year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A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₹ crores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A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9FAFC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9FAF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title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Allocation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Compute &amp; Storage (6 mo)</c:v>
                </c:pt>
                <c:pt idx="1">
                  <c:v>Marketing &amp; Outreach</c:v>
                </c:pt>
                <c:pt idx="2">
                  <c:v>Admin &amp; R&amp;D</c:v>
                </c:pt>
                <c:pt idx="3">
                  <c:v>Buffer Reserve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1.4745600000000001</c:v>
                </c:pt>
                <c:pt idx="1">
                  <c:v>0.6</c:v>
                </c:pt>
                <c:pt idx="2">
                  <c:v>0.4</c:v>
                </c:pt>
                <c:pt idx="3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A68-EC4B-BD5A-B2C0428BD4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3C60C3-6D22-D948-9A70-5CE5E6A7BF8C}" type="datetimeFigureOut">
              <a:rPr lang="en-US" smtClean="0"/>
              <a:t>9/7/25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023A37-1FDC-C348-85C3-EDA276F50C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827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file:///home/oai/share/RouteGenie_%20AI-Powered%20Logistics%20Management%20Platfo.pdf#:~:text=,a%20critical%20area%20for%20cost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hyperlink" Target="file:///home/oai/share/RouteGenie_%20AI-Powered%20Logistics%20Management%20Platfo.pdf#:~:text=,12" TargetMode="External"/><Relationship Id="rId5" Type="http://schemas.openxmlformats.org/officeDocument/2006/relationships/hyperlink" Target="file:///home/oai/share/RouteGenie_%20AI-Powered%20Logistics%20Management%20Platfo.pdf#:~:text=India%27s%20logistics%20sector%20faces%20substantial,a%20critical%20area%20for%20cost" TargetMode="Externa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hyperlink" Target="file:///home/oai/share/RouteGenie_%20AI-Powered%20Logistics%20Management%20Platfo.pdf#:~:text=The%20Indian%20logistics%20market%20presents,14.5%25%20CAGR" TargetMode="External"/><Relationship Id="rId5" Type="http://schemas.openxmlformats.org/officeDocument/2006/relationships/hyperlink" Target="file:///home/oai/share/RouteGenie_%20AI-Powered%20Logistics%20Management%20Platfo.pdf#:~:text=optimization,within%20the%20first%20year%20of" TargetMode="Externa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hyperlink" Target="file:///home/oai/share/RouteGenie_%20AI-Powered%20Logistics%20Management%20Platfo.pdf#:~:text=The%20Starter%20plan%20at%20%E2%82%B915%2C000,teams%2C%20and%20custom%20integrations%20for" TargetMode="External"/><Relationship Id="rId5" Type="http://schemas.openxmlformats.org/officeDocument/2006/relationships/hyperlink" Target="file:///home/oai/share/RouteGenie_%20AI-Powered%20Logistics%20Management%20Platfo.pdf#:~:text=leverages%20advanced%20AI%20sensors%2C%20real,Through%20a%20strategic%20subscription" TargetMode="External"/><Relationship Id="rId4" Type="http://schemas.openxmlformats.org/officeDocument/2006/relationships/hyperlink" Target="file:///home/oai/share/RouteGenie_%20AI-Powered%20Logistics%20Management%20Platfo.pdf#:~:text=RouteGenie%20utilizes%20sophisticated%20artificial%20intelligence,vehicle%20capacity%20constraints%20and%20driver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tmp"/><Relationship Id="rId5" Type="http://schemas.openxmlformats.org/officeDocument/2006/relationships/hyperlink" Target="file:///home/oai/share/RouteGenie_%20AI-Powered%20Logistics%20Management%20Platfo.pdf#:~:text=RouteGenie%20utilizes%20sophisticated%20artificial%20intelligence,vehicle%20capacity%20constraints%20and%20driver" TargetMode="External"/><Relationship Id="rId4" Type="http://schemas.openxmlformats.org/officeDocument/2006/relationships/hyperlink" Target="file:///home/oai/share/RouteGenie_%20AI-Powered%20Logistics%20Management%20Platfo.pdf#:~:text=The%20platform%20utilizes%20cloud,time%20customer%20notifications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hyperlink" Target="file:///home/oai/share/RouteGenie_%20AI-Powered%20Logistics%20Management%20Platfo.pdf#:~:text=RouteGenie%20delivers%20compelling%20value%20propositions,without%20massive%20infrastructure%20investment" TargetMode="External"/><Relationship Id="rId4" Type="http://schemas.openxmlformats.org/officeDocument/2006/relationships/hyperlink" Target="file:///home/oai/share/RouteGenie_%20AI-Powered%20Logistics%20Management%20Platfo.pdf#:~:text=balances%20accessibility%20for%20smaller%20players,scale%20operations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hyperlink" Target="file:///home/oai/share/RouteGenie_%20AI-Powered%20Logistics%20Management%20Platfo.pdf#:~:text=Strategic%20partnerships%20form%20the%20foundation,provide%20market%20access%20and%20credibility" TargetMode="External"/><Relationship Id="rId5" Type="http://schemas.openxmlformats.org/officeDocument/2006/relationships/hyperlink" Target="file:///home/oai/share/RouteGenie_%20AI-Powered%20Logistics%20Management%20Platfo.pdf#:~:text=The%20primary%20target%20market%20consists,needs%20and%20budget%20considerations%2C%20requiring" TargetMode="External"/><Relationship Id="rId4" Type="http://schemas.openxmlformats.org/officeDocument/2006/relationships/hyperlink" Target="file:///home/oai/share/RouteGenie_%20AI-Powered%20Logistics%20Management%20Platfo.pdf#:~:text=This%20pricing%20strategy%20enables%20market,resources%2C%20and%20ongoing%20research%20and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fourco.nl/blogs/the-limitations-of-aws-free-tier/#:~:text=However%2C%20taking%20an%20average%20month,33" TargetMode="External"/><Relationship Id="rId5" Type="http://schemas.openxmlformats.org/officeDocument/2006/relationships/hyperlink" Target="https://fourco.nl/blogs/the-limitations-of-aws-free-tier/#:~:text=AWS%20offer%20750%20hours%20of,That%E2%80%99s%20pretty%20cool" TargetMode="External"/><Relationship Id="rId4" Type="http://schemas.openxmlformats.org/officeDocument/2006/relationships/hyperlink" Target="file:///home/oai/share/RouteGenie_%20AI-Powered%20Logistics%20Management%20Platfo.pdf#:~:text=RouteGenie%27s%20go,and%20Enterprise%20tier%20prospects%2C%20while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hyperlink" Target="file:///home/oai/share/RouteGenie_%20AI-Powered%20Logistics%20Management%20Platfo.pdf#:~:text=integration%2C%20real,objective%20optimization%20set%20RouteGenie" TargetMode="External"/><Relationship Id="rId5" Type="http://schemas.openxmlformats.org/officeDocument/2006/relationships/hyperlink" Target="file:///home/oai/share/RouteGenie_%20AI-Powered%20Logistics%20Management%20Platfo.pdf#:~:text=The%20Indian%20AI%20logistics%20market,customer%20support%20across%20all%20tiers" TargetMode="Externa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file:///home/oai/share/RouteGenie_%20AI-Powered%20Logistics%20Management%20Platfo.pdf#:~:text=Financial%20modeling%20indicates%20RouteGenie%20achieves,demand%20for%20AI%20logistics%20solutions" TargetMode="External"/><Relationship Id="rId3" Type="http://schemas.openxmlformats.org/officeDocument/2006/relationships/image" Target="../media/image2.png"/><Relationship Id="rId7" Type="http://schemas.openxmlformats.org/officeDocument/2006/relationships/hyperlink" Target="file:///home/oai/share/RouteGenie_%20AI-Powered%20Logistics%20Management%20Platfo.pdf#:~:text=RouteGenie%27s%20funding%20strategy%20involves%20staged,This%20staged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hyperlink" Target="file:///home/oai/share/RouteGenie_%20AI-Powered%20Logistics%20Management%20Platfo.pdf#:~:text=5,Revenue%20Projections%20and%20Growth%20Trajectory" TargetMode="External"/><Relationship Id="rId5" Type="http://schemas.openxmlformats.org/officeDocument/2006/relationships/hyperlink" Target="file:///home/oai/share/RouteGenie_%20AI-Powered%20Logistics%20Management%20Platfo.pdf#:~:text=RouteGenie%20development%20requires%20an%20estimated,ready%20product%20launch" TargetMode="External"/><Relationship Id="rId4" Type="http://schemas.openxmlformats.org/officeDocument/2006/relationships/chart" Target="../charts/char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hyperlink" Target="file:///home/oai/share/RouteGenie_%20AI-Powered%20Logistics%20Management%20Platfo.pdf#:~:text=Financial%20modeling%20indicates%20RouteGenie%20achieves,demand%20for%20AI%20logistics%20solutions" TargetMode="External"/><Relationship Id="rId5" Type="http://schemas.openxmlformats.org/officeDocument/2006/relationships/hyperlink" Target="file:///home/oai/share/RouteGenie_%20AI-Powered%20Logistics%20Management%20Platfo.pdf#:~:text=integration%2C%20real,objective%20optimization%20set%20RouteGenie" TargetMode="External"/><Relationship Id="rId4" Type="http://schemas.openxmlformats.org/officeDocument/2006/relationships/hyperlink" Target="file:///home/oai/share/RouteGenie_%20AI-Powered%20Logistics%20Management%20Platfo.pdf#:~:text=RouteGenie%20emerges%20as%20a%20transformative,within%20the%20first%20year%20of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instances.vantage.sh/aws/ec2/t3.medium#:~:text=t3" TargetMode="External"/><Relationship Id="rId7" Type="http://schemas.openxmlformats.org/officeDocument/2006/relationships/image" Target="../media/image2.png"/><Relationship Id="rId2" Type="http://schemas.openxmlformats.org/officeDocument/2006/relationships/hyperlink" Target="https://spot.io/resources/kubernetes-architecture/kubernetes-pricing-cost-factors-and-5-ways-to-reduce-expenses/#:~:text=Amazon%20Elastic%20Kubernetes%20Service%20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spot.io/resources/kubernetes-architecture/kubernetes-pricing-cost-factors-and-5-ways-to-reduce-expenses/#:~:text=2" TargetMode="External"/><Relationship Id="rId5" Type="http://schemas.openxmlformats.org/officeDocument/2006/relationships/hyperlink" Target="https://www.cloudoptimo.com/blog/aws-free-tier-isnt-unlimited-know-the-limits-before-you-get-billed/#:~:text=A%20common%20oversight%20is%20assuming,instances%2C%20AWS%20begins%20charging%20hourly" TargetMode="External"/><Relationship Id="rId4" Type="http://schemas.openxmlformats.org/officeDocument/2006/relationships/hyperlink" Target="https://instances.vantage.sh/aws/ec2/g4dn.xlarge#:~:text=The%20g4dn,526%20per%20hour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loudoptimo.com/blog/aws-free-tier-isnt-unlimited-know-the-limits-before-you-get-billed/#:~:text=A%20common%20oversight%20is%20assuming,instances%2C%20AWS%20begins%20charging%20hourly" TargetMode="External"/><Relationship Id="rId2" Type="http://schemas.openxmlformats.org/officeDocument/2006/relationships/hyperlink" Target="https://www.cloudoptimo.com/blog/aws-free-tier-isnt-unlimited-know-the-limits-before-you-get-billed/#:~:text=EC2%3A%20Instance%20Limits%2C%20EBS%20Volumes%2C,and%20Idle%20Costs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hyperlink" Target="https://cloudvisor.co/how-to-get-free-aws-credits/#:~:text=4,BEAMSTART" TargetMode="External"/><Relationship Id="rId4" Type="http://schemas.openxmlformats.org/officeDocument/2006/relationships/hyperlink" Target="https://cloudvisor.co/how-to-get-free-aws-credits/#:~:text=,AWS%20users%2C%20perfect%20for%20testing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instances.vantage.sh/aws/ec2/t3.medium#:~:text=t3" TargetMode="External"/><Relationship Id="rId7" Type="http://schemas.openxmlformats.org/officeDocument/2006/relationships/chart" Target="../charts/chart3.xml"/><Relationship Id="rId2" Type="http://schemas.openxmlformats.org/officeDocument/2006/relationships/hyperlink" Target="https://spot.io/resources/kubernetes-architecture/kubernetes-pricing-cost-factors-and-5-ways-to-reduce-expenses/#:~:text=Amazon%20Elastic%20Kubernetes%20Service%20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hyperlink" Target="https://spot.io/resources/kubernetes-architecture/kubernetes-pricing-cost-factors-and-5-ways-to-reduce-expenses/#:~:text=2" TargetMode="External"/><Relationship Id="rId4" Type="http://schemas.openxmlformats.org/officeDocument/2006/relationships/hyperlink" Target="https://instances.vantage.sh/aws/ec2/g4dn.xlarge#:~:text=The%20g4dn,526%20per%20hou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11111" b="11111"/>
          <a:stretch/>
        </p:blipFill>
        <p:spPr>
          <a:xfrm>
            <a:off x="4754880" y="914400"/>
            <a:ext cx="4114800" cy="3200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1371600"/>
            <a:ext cx="43891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030A18"/>
                </a:solidFill>
              </a:rPr>
              <a:t>ChainSync</a:t>
            </a:r>
            <a:endParaRPr lang="en-US" sz="4400" dirty="0"/>
          </a:p>
          <a:p>
            <a:pPr marL="0" indent="0">
              <a:buNone/>
            </a:pPr>
            <a:r>
              <a:rPr lang="en-US" sz="2400" dirty="0">
                <a:solidFill>
                  <a:srgbClr val="030A18"/>
                </a:solidFill>
              </a:rPr>
              <a:t>AI‑Powered Logistics Management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365760" y="2468880"/>
            <a:ext cx="3200400" cy="45720"/>
          </a:xfrm>
          <a:prstGeom prst="rect">
            <a:avLst/>
          </a:prstGeom>
          <a:solidFill>
            <a:srgbClr val="E5A96B"/>
          </a:solidFill>
          <a:ln w="12700">
            <a:solidFill>
              <a:srgbClr val="E5A9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365760" y="2743200"/>
            <a:ext cx="4389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A44"/>
                </a:solidFill>
              </a:rPr>
              <a:t>Savin.P – 2428955
Akshaya – 2428905
Brunoster Rajan – 2428913
Rajesh – 2428938
Paresh – 2428335
Tarun – 2428946
Jose Anthony – 2428954
Danish – 2428916
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65760" y="420624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44"/>
                </a:solidFill>
              </a:rPr>
              <a:t>Business Hackathon – CIA‑3</a:t>
            </a:r>
            <a:endParaRPr lang="en-US" sz="1200" dirty="0"/>
          </a:p>
          <a:p>
            <a:pPr marL="0" indent="0">
              <a:buNone/>
            </a:pPr>
            <a:r>
              <a:rPr lang="en-US" sz="1000" i="1" dirty="0">
                <a:solidFill>
                  <a:srgbClr val="1F2A44"/>
                </a:solidFill>
              </a:rPr>
              <a:t>Pitch Deck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1F2A44"/>
                </a:solidFill>
              </a:rPr>
              <a:t>06 Sept 2025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54864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A9C5EB"/>
          </a:solidFill>
          <a:ln w="12700">
            <a:solidFill>
              <a:srgbClr val="A9C5E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441198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2743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30A18"/>
                </a:solidFill>
              </a:rPr>
              <a:t>Agenda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914400"/>
            <a:ext cx="68580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44"/>
                </a:solidFill>
              </a:rPr>
              <a:t>1. Problem &amp; Market Challenge
2. Opportunity &amp; Growth
3. Solution Overview
4. Architecture &amp; Workflow
5. Business Model &amp; Canvas
6. Customer Acquisition &amp; AWS Hosting
7. Competition &amp; Differentiators
8. Financials &amp; Funding
9. Conclusion &amp; Next Steps
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44119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30A18"/>
                </a:solidFill>
              </a:rPr>
              <a:t>Problem &amp; Market Challenge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65760" y="1005840"/>
            <a:ext cx="47548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</a:rPr>
              <a:t>Inefficient route planning increases fuel consumption and vehicle wear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</a:rPr>
              <a:t>Delays and manual loading lead to missed deliveries and unhappy customers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</a:rPr>
              <a:t>Logistics costs account for ~16% of India’s GDP – twice global benchmarks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</a:rPr>
              <a:t>Last‑mile delivery makes up ~53% of shipping costs, driving up prices</a:t>
            </a:r>
            <a:endParaRPr lang="en-US" sz="1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2500" b="12500"/>
          <a:stretch/>
        </p:blipFill>
        <p:spPr>
          <a:xfrm>
            <a:off x="5212080" y="1097280"/>
            <a:ext cx="3657600" cy="2743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48234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 dirty="0">
                <a:solidFill>
                  <a:srgbClr val="0000FF"/>
                </a:solidFill>
                <a:hlinkClick r:id="rId5"/>
              </a:rPr>
              <a:t>[1]</a:t>
            </a:r>
            <a:r>
              <a:rPr lang="en-US" sz="600" dirty="0">
                <a:solidFill>
                  <a:srgbClr val="000000"/>
                </a:solidFill>
              </a:rPr>
              <a:t>   </a:t>
            </a:r>
            <a:r>
              <a:rPr lang="en-US" sz="600" u="sng" dirty="0">
                <a:solidFill>
                  <a:srgbClr val="0000FF"/>
                </a:solidFill>
                <a:hlinkClick r:id="rId6"/>
              </a:rPr>
              <a:t>[2]</a:t>
            </a:r>
            <a:r>
              <a:rPr lang="en-US" sz="600" dirty="0">
                <a:solidFill>
                  <a:srgbClr val="000000"/>
                </a:solidFill>
              </a:rPr>
              <a:t>   </a:t>
            </a:r>
            <a:r>
              <a:rPr lang="en-US" sz="600" u="sng" dirty="0">
                <a:solidFill>
                  <a:srgbClr val="0000FF"/>
                </a:solidFill>
                <a:hlinkClick r:id="rId7"/>
              </a:rPr>
              <a:t>[3]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44119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30A18"/>
                </a:solidFill>
              </a:rPr>
              <a:t>Opportunity &amp; Growth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005840"/>
          <a:ext cx="50292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Text 1"/>
          <p:cNvSpPr/>
          <p:nvPr/>
        </p:nvSpPr>
        <p:spPr>
          <a:xfrm>
            <a:off x="5760720" y="118872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</a:rPr>
              <a:t>India’s logistics market projected at ₹35.3 T by 2029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</a:rPr>
              <a:t>8.8% CAGR through 2029 with AI in logistics growing 14%+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</a:rPr>
              <a:t>50,000+ logistics firms provide vast customer base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457200" y="48234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 dirty="0">
                <a:solidFill>
                  <a:srgbClr val="0000FF"/>
                </a:solidFill>
                <a:hlinkClick r:id="rId5"/>
              </a:rPr>
              <a:t>[4]</a:t>
            </a:r>
            <a:r>
              <a:rPr lang="en-US" sz="600" dirty="0">
                <a:solidFill>
                  <a:srgbClr val="000000"/>
                </a:solidFill>
              </a:rPr>
              <a:t>   </a:t>
            </a:r>
            <a:r>
              <a:rPr lang="en-US" sz="600" u="sng" dirty="0">
                <a:solidFill>
                  <a:srgbClr val="0000FF"/>
                </a:solidFill>
                <a:hlinkClick r:id="rId6"/>
              </a:rPr>
              <a:t>[5]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44119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30A18"/>
                </a:solidFill>
              </a:rPr>
              <a:t>Solution Overview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65760" y="1005840"/>
            <a:ext cx="47548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</a:rPr>
              <a:t>Advanced AI sensors integrate traffic, weather, vehicle and demand data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</a:rPr>
              <a:t>Predictive analytics reroute deliveries before disruptions occur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</a:rPr>
              <a:t>Reduces operational costs by up to 30% and improves delivery efficiency 25–40%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</a:rPr>
              <a:t>Subscription model accessible from ₹15k to ₹1.5 L per month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457200" y="48234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 dirty="0">
                <a:solidFill>
                  <a:srgbClr val="0000FF"/>
                </a:solidFill>
                <a:hlinkClick r:id="rId4"/>
              </a:rPr>
              <a:t>[6]</a:t>
            </a:r>
            <a:r>
              <a:rPr lang="en-US" sz="600" dirty="0">
                <a:solidFill>
                  <a:srgbClr val="000000"/>
                </a:solidFill>
              </a:rPr>
              <a:t>   </a:t>
            </a:r>
            <a:r>
              <a:rPr lang="en-US" sz="600" u="sng" dirty="0">
                <a:solidFill>
                  <a:srgbClr val="0000FF"/>
                </a:solidFill>
                <a:hlinkClick r:id="rId5"/>
              </a:rPr>
              <a:t>[7]</a:t>
            </a:r>
            <a:r>
              <a:rPr lang="en-US" sz="600" dirty="0">
                <a:solidFill>
                  <a:srgbClr val="000000"/>
                </a:solidFill>
              </a:rPr>
              <a:t>   </a:t>
            </a:r>
            <a:r>
              <a:rPr lang="en-US" sz="600" u="sng" dirty="0">
                <a:solidFill>
                  <a:srgbClr val="0000FF"/>
                </a:solidFill>
                <a:hlinkClick r:id="rId6"/>
              </a:rPr>
              <a:t>[8]</a:t>
            </a:r>
            <a:endParaRPr lang="en-US" sz="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2077AA4-6A6F-C85A-49E9-5D19C9B737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67300" y="1218565"/>
            <a:ext cx="3138078" cy="27978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44119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30A18"/>
                </a:solidFill>
              </a:rPr>
              <a:t>Architecture &amp; Workflow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65760" y="914400"/>
            <a:ext cx="43891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</a:rPr>
              <a:t>Orders are ingested into a load planner that constructs a packing sequence</a:t>
            </a:r>
            <a:endParaRPr lang="en-US" sz="1300" dirty="0"/>
          </a:p>
          <a:p>
            <a:pPr marL="190500" indent="-190500"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</a:rPr>
              <a:t>AI core (HRM &amp; RAG) plans loading order and reroutes in real‑time</a:t>
            </a:r>
            <a:endParaRPr lang="en-US" sz="1300" dirty="0"/>
          </a:p>
          <a:p>
            <a:pPr marL="190500" indent="-190500"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</a:rPr>
              <a:t>Route optimizer updates driver app &amp; dashboard with optimal routes</a:t>
            </a:r>
            <a:endParaRPr lang="en-US" sz="1300" dirty="0"/>
          </a:p>
          <a:p>
            <a:pPr marL="190500" indent="-190500"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</a:rPr>
              <a:t>Cost analysis computes additional costs and forecasts budgets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48234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 dirty="0">
                <a:solidFill>
                  <a:srgbClr val="0000FF"/>
                </a:solidFill>
                <a:hlinkClick r:id="rId4"/>
              </a:rPr>
              <a:t>[9]</a:t>
            </a:r>
            <a:r>
              <a:rPr lang="en-US" sz="600" dirty="0">
                <a:solidFill>
                  <a:srgbClr val="000000"/>
                </a:solidFill>
              </a:rPr>
              <a:t>   </a:t>
            </a:r>
            <a:r>
              <a:rPr lang="en-US" sz="600" u="sng" dirty="0">
                <a:solidFill>
                  <a:srgbClr val="0000FF"/>
                </a:solidFill>
                <a:hlinkClick r:id="rId5"/>
              </a:rPr>
              <a:t>[10]</a:t>
            </a:r>
            <a:endParaRPr lang="en-US" sz="6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2D21EB5-17BA-B6FE-0D20-97DEE5560372}"/>
              </a:ext>
            </a:extLst>
          </p:cNvPr>
          <p:cNvSpPr txBox="1"/>
          <p:nvPr/>
        </p:nvSpPr>
        <p:spPr>
          <a:xfrm>
            <a:off x="3695700" y="238708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 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488E5C3F-9C58-9F17-DD83-0111E9D312D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518998" y="482600"/>
            <a:ext cx="2571324" cy="4064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44119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30A18"/>
                </a:solidFill>
              </a:rPr>
              <a:t>Business Model &amp; Pricing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18288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30A18"/>
                          </a:solidFill>
                        </a:rPr>
                        <a:t>Tier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C5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30A18"/>
                          </a:solidFill>
                        </a:rPr>
                        <a:t>Price/mo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C5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30A18"/>
                          </a:solidFill>
                        </a:rPr>
                        <a:t>Features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C5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30A18"/>
                          </a:solidFill>
                        </a:rPr>
                        <a:t>Target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C5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Starter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₹15k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GPS tracking, basic route optimisation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1–5 vehicles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Professional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₹35k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Advanced AI routing, multi user dashboards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6–25 vehicles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Enterprise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₹75k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Custom algorithms, API access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26–100 vehicles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Enterprise+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₹150k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White‑label, dedicated support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&gt;100 vehicles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365760" y="310896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0A18"/>
                </a:solidFill>
              </a:rPr>
              <a:t>Savings &amp; Value:
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</a:rPr>
              <a:t>20–30% fuel cost reduction for small fleets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</a:rPr>
              <a:t>Scalable efficiency with analytics and integrations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</a:rPr>
              <a:t>Custom solutions &amp; white‑label options for enterprises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457200" y="48234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 dirty="0">
                <a:solidFill>
                  <a:srgbClr val="0000FF"/>
                </a:solidFill>
                <a:hlinkClick r:id="rId4"/>
              </a:rPr>
              <a:t>[11]</a:t>
            </a:r>
            <a:r>
              <a:rPr lang="en-US" sz="600" dirty="0">
                <a:solidFill>
                  <a:srgbClr val="000000"/>
                </a:solidFill>
              </a:rPr>
              <a:t>   </a:t>
            </a:r>
            <a:r>
              <a:rPr lang="en-US" sz="600" u="sng" dirty="0">
                <a:solidFill>
                  <a:srgbClr val="0000FF"/>
                </a:solidFill>
                <a:hlinkClick r:id="rId5"/>
              </a:rPr>
              <a:t>[12]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44119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30A18"/>
                </a:solidFill>
              </a:rPr>
              <a:t>Business Model Canvas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65760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0A18"/>
                </a:solidFill>
              </a:rPr>
              <a:t>Key Partners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365760" y="114300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</a:rPr>
              <a:t>Cloud providers (AWS/Azure)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</a:rPr>
              <a:t>ERP &amp; TMS vendors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</a:rPr>
              <a:t>Logistics associations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</a:rPr>
              <a:t>System integrators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291840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0A18"/>
                </a:solidFill>
              </a:rPr>
              <a:t>Key Activities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291840" y="114300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</a:rPr>
              <a:t>AI algorithm development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</a:rPr>
              <a:t>Real‑time data processing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</a:rPr>
              <a:t>Software maintenance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</a:rPr>
              <a:t>Customer support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217920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0A18"/>
                </a:solidFill>
              </a:rPr>
              <a:t>Value Proposition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217920" y="114300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</a:rPr>
              <a:t>Lower costs &amp; faster deliveries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</a:rPr>
              <a:t>Scalable subscription model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</a:rPr>
              <a:t>Comprehensive AI optimisation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65760" y="2743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0A18"/>
                </a:solidFill>
              </a:rPr>
              <a:t>Customer Segments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65760" y="297180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</a:rPr>
              <a:t>Small truckers &amp; local fleets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</a:rPr>
              <a:t>Mid‑sized logistics firms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</a:rPr>
              <a:t>Large enterprises &amp; 3PLs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291840" y="2743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0A18"/>
                </a:solidFill>
              </a:rPr>
              <a:t>Channels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291840" y="297180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</a:rPr>
              <a:t>Direct sales &amp; pilot projects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</a:rPr>
              <a:t>Digital marketing &amp; SEO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</a:rPr>
              <a:t>Partnership channels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217920" y="2743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0A18"/>
                </a:solidFill>
              </a:rPr>
              <a:t>Revenue Streams &amp; Costs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217920" y="297180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</a:rPr>
              <a:t>Subscription fees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</a:rPr>
              <a:t>Implementation &amp; training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</a:rPr>
              <a:t>Cloud infrastructure &amp; R&amp;D costs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" y="48234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 dirty="0">
                <a:solidFill>
                  <a:srgbClr val="0000FF"/>
                </a:solidFill>
                <a:hlinkClick r:id="rId4"/>
              </a:rPr>
              <a:t>[13]</a:t>
            </a:r>
            <a:r>
              <a:rPr lang="en-US" sz="600" dirty="0">
                <a:solidFill>
                  <a:srgbClr val="000000"/>
                </a:solidFill>
              </a:rPr>
              <a:t>   </a:t>
            </a:r>
            <a:r>
              <a:rPr lang="en-US" sz="600" u="sng" dirty="0">
                <a:solidFill>
                  <a:srgbClr val="0000FF"/>
                </a:solidFill>
                <a:hlinkClick r:id="rId5"/>
              </a:rPr>
              <a:t>[14]</a:t>
            </a:r>
            <a:r>
              <a:rPr lang="en-US" sz="600" dirty="0">
                <a:solidFill>
                  <a:srgbClr val="000000"/>
                </a:solidFill>
              </a:rPr>
              <a:t>   </a:t>
            </a:r>
            <a:r>
              <a:rPr lang="en-US" sz="600" u="sng" dirty="0">
                <a:solidFill>
                  <a:srgbClr val="0000FF"/>
                </a:solidFill>
                <a:hlinkClick r:id="rId6"/>
              </a:rPr>
              <a:t>[15]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44119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30A18"/>
                </a:solidFill>
              </a:rPr>
              <a:t>Customer Acquisition &amp; AWS Hosting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65760" y="1005840"/>
            <a:ext cx="4754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</a:rPr>
              <a:t>Pilot programs in Tier‑2/3 cities demonstrate ROI</a:t>
            </a:r>
            <a:endParaRPr lang="en-US" sz="1300" dirty="0"/>
          </a:p>
          <a:p>
            <a:pPr marL="190500" indent="-190500"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</a:rPr>
              <a:t>Digital marketing &amp; SEO target logistics keywords</a:t>
            </a:r>
            <a:endParaRPr lang="en-US" sz="1300" dirty="0"/>
          </a:p>
          <a:p>
            <a:pPr marL="190500" indent="-190500"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</a:rPr>
              <a:t>Partnerships with logistics associations &amp; ERP vendors</a:t>
            </a:r>
            <a:endParaRPr lang="en-US" sz="1300" dirty="0"/>
          </a:p>
          <a:p>
            <a:pPr marL="190500" indent="-190500"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</a:rPr>
              <a:t>Hybrid sales: self‑serve for small firms; direct sales for larger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097280"/>
          <a:ext cx="3383280" cy="1463040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30A18"/>
                          </a:solidFill>
                        </a:rPr>
                        <a:t>Instances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C5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30A18"/>
                          </a:solidFill>
                        </a:rPr>
                        <a:t>Cost (whole month)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C5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$0 + storage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$10.64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$51.85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$112.50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C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760720" y="2651760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30A18"/>
                </a:solidFill>
              </a:rPr>
              <a:t>AWS Free Tier:
</a:t>
            </a:r>
            <a:endParaRPr lang="en-US" sz="13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</a:rPr>
              <a:t>750 hours/month of t2.micro &amp; t3.micro instances</a:t>
            </a:r>
            <a:endParaRPr lang="en-US" sz="13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</a:rPr>
              <a:t>Run one instance 24/7 with up to 30 GB EBS storage free</a:t>
            </a:r>
            <a:endParaRPr lang="en-US" sz="13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</a:rPr>
              <a:t>Scale gradually; pay only when additional instances are needed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457200" y="48234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 dirty="0">
                <a:solidFill>
                  <a:srgbClr val="0000FF"/>
                </a:solidFill>
                <a:hlinkClick r:id="rId4"/>
              </a:rPr>
              <a:t>[16]</a:t>
            </a:r>
            <a:r>
              <a:rPr lang="en-US" sz="600" dirty="0">
                <a:solidFill>
                  <a:srgbClr val="000000"/>
                </a:solidFill>
              </a:rPr>
              <a:t>   </a:t>
            </a:r>
            <a:r>
              <a:rPr lang="en-US" sz="600" u="sng" dirty="0">
                <a:solidFill>
                  <a:srgbClr val="0000FF"/>
                </a:solidFill>
                <a:hlinkClick r:id="rId5"/>
              </a:rPr>
              <a:t>[17]</a:t>
            </a:r>
            <a:r>
              <a:rPr lang="en-US" sz="600" dirty="0">
                <a:solidFill>
                  <a:srgbClr val="000000"/>
                </a:solidFill>
              </a:rPr>
              <a:t>   </a:t>
            </a:r>
            <a:r>
              <a:rPr lang="en-US" sz="600" u="sng" dirty="0">
                <a:solidFill>
                  <a:srgbClr val="0000FF"/>
                </a:solidFill>
                <a:hlinkClick r:id="rId6"/>
              </a:rPr>
              <a:t>[18]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44119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30A18"/>
                </a:solidFill>
              </a:rPr>
              <a:t>Competition &amp; Differentiators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65760" y="914400"/>
            <a:ext cx="48463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0A18"/>
                </a:solidFill>
              </a:rPr>
              <a:t>Competitors:
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</a:rPr>
              <a:t>LogiNext – AI logistics SaaS (founded 2014)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</a:rPr>
              <a:t>Locus – route optimisation &amp; last‑mile (founded 2015)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</a:rPr>
              <a:t>Pickrr – multi‑carrier shipping platform (2015)</a:t>
            </a:r>
            <a:r>
              <a:rPr lang="en-US" sz="1400" b="1" dirty="0">
                <a:solidFill>
                  <a:srgbClr val="030A18"/>
                </a:solidFill>
              </a:rPr>
              <a:t>
Our Edge:
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</a:rPr>
              <a:t>Real‑time AI sensor integration &amp; multi‑objective optimisation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</a:rPr>
              <a:t>Tiered subscription model serving all segments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</a:rPr>
              <a:t>End‑to‑end solution from order input to cost analysis</a:t>
            </a:r>
            <a:endParaRPr lang="en-US" sz="1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9459" b="9459"/>
          <a:stretch/>
        </p:blipFill>
        <p:spPr>
          <a:xfrm>
            <a:off x="5486400" y="1097280"/>
            <a:ext cx="3383280" cy="2743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48234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 dirty="0">
                <a:solidFill>
                  <a:srgbClr val="0000FF"/>
                </a:solidFill>
                <a:hlinkClick r:id="rId5"/>
              </a:rPr>
              <a:t>[19]</a:t>
            </a:r>
            <a:r>
              <a:rPr lang="en-US" sz="600" dirty="0">
                <a:solidFill>
                  <a:srgbClr val="000000"/>
                </a:solidFill>
              </a:rPr>
              <a:t>   </a:t>
            </a:r>
            <a:r>
              <a:rPr lang="en-US" sz="600" u="sng" dirty="0">
                <a:solidFill>
                  <a:srgbClr val="0000FF"/>
                </a:solidFill>
                <a:hlinkClick r:id="rId6"/>
              </a:rPr>
              <a:t>[20]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44119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30A18"/>
                </a:solidFill>
              </a:rPr>
              <a:t>Financials &amp; Funding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005840"/>
          <a:ext cx="50292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Text 1"/>
          <p:cNvSpPr/>
          <p:nvPr/>
        </p:nvSpPr>
        <p:spPr>
          <a:xfrm>
            <a:off x="5760720" y="118872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0A18"/>
                </a:solidFill>
              </a:rPr>
              <a:t>Funding &amp; Profitability:
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</a:rPr>
              <a:t>Development cost: ₹95.5 L; operations: ₹15 L; total ₹1.1 Cr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</a:rPr>
              <a:t>Seed: ₹2–3 Cr; Series A: ₹8–12 Cr; Series B: ₹25–35 Cr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</a:rPr>
              <a:t>Breakeven in year 1 with cumulative profit of ₹2.3 Cr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457200" y="48234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 dirty="0">
                <a:solidFill>
                  <a:srgbClr val="0000FF"/>
                </a:solidFill>
                <a:hlinkClick r:id="rId5"/>
              </a:rPr>
              <a:t>[21]</a:t>
            </a:r>
            <a:r>
              <a:rPr lang="en-US" sz="600" dirty="0">
                <a:solidFill>
                  <a:srgbClr val="000000"/>
                </a:solidFill>
              </a:rPr>
              <a:t>   </a:t>
            </a:r>
            <a:r>
              <a:rPr lang="en-US" sz="600" u="sng" dirty="0">
                <a:solidFill>
                  <a:srgbClr val="0000FF"/>
                </a:solidFill>
                <a:hlinkClick r:id="rId6"/>
              </a:rPr>
              <a:t>[22]</a:t>
            </a:r>
            <a:r>
              <a:rPr lang="en-US" sz="600" dirty="0">
                <a:solidFill>
                  <a:srgbClr val="000000"/>
                </a:solidFill>
              </a:rPr>
              <a:t>   </a:t>
            </a:r>
            <a:r>
              <a:rPr lang="en-US" sz="600" u="sng" dirty="0">
                <a:solidFill>
                  <a:srgbClr val="0000FF"/>
                </a:solidFill>
                <a:hlinkClick r:id="rId7"/>
              </a:rPr>
              <a:t>[23]</a:t>
            </a:r>
            <a:r>
              <a:rPr lang="en-US" sz="600" dirty="0">
                <a:solidFill>
                  <a:srgbClr val="000000"/>
                </a:solidFill>
              </a:rPr>
              <a:t>   </a:t>
            </a:r>
            <a:r>
              <a:rPr lang="en-US" sz="600" u="sng" dirty="0">
                <a:solidFill>
                  <a:srgbClr val="0000FF"/>
                </a:solidFill>
                <a:hlinkClick r:id="rId8"/>
              </a:rPr>
              <a:t>[24]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44119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30A18"/>
                </a:solidFill>
              </a:rPr>
              <a:t>Conclusion &amp; Next Steps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65760" y="1005840"/>
            <a:ext cx="51206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</a:rPr>
              <a:t>ChainSync solves critical logistics inefficiencies with AI &amp; RAG</a:t>
            </a:r>
            <a:endParaRPr lang="en-US" sz="1300" dirty="0"/>
          </a:p>
          <a:p>
            <a:pPr marL="190500" indent="-190500"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</a:rPr>
              <a:t>Massive market and rapid growth create huge opportunity</a:t>
            </a:r>
            <a:endParaRPr lang="en-US" sz="1300" dirty="0"/>
          </a:p>
          <a:p>
            <a:pPr marL="190500" indent="-190500"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</a:rPr>
              <a:t>Sustainable business model with proven profitability</a:t>
            </a:r>
            <a:endParaRPr lang="en-US" sz="1300" dirty="0"/>
          </a:p>
          <a:p>
            <a:pPr marL="190500" indent="-190500"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</a:rPr>
              <a:t>Next: build MVP, secure pilot customers and raise seed funding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48234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 dirty="0">
                <a:solidFill>
                  <a:srgbClr val="0000FF"/>
                </a:solidFill>
                <a:hlinkClick r:id="rId4"/>
              </a:rPr>
              <a:t>[25]</a:t>
            </a:r>
            <a:r>
              <a:rPr lang="en-US" sz="600" dirty="0">
                <a:solidFill>
                  <a:srgbClr val="000000"/>
                </a:solidFill>
              </a:rPr>
              <a:t>   </a:t>
            </a:r>
            <a:r>
              <a:rPr lang="en-US" sz="600" u="sng" dirty="0">
                <a:solidFill>
                  <a:srgbClr val="0000FF"/>
                </a:solidFill>
                <a:hlinkClick r:id="rId5"/>
              </a:rPr>
              <a:t>[26]</a:t>
            </a:r>
            <a:r>
              <a:rPr lang="en-US" sz="600" dirty="0">
                <a:solidFill>
                  <a:srgbClr val="000000"/>
                </a:solidFill>
              </a:rPr>
              <a:t>   </a:t>
            </a:r>
            <a:r>
              <a:rPr lang="en-US" sz="600" u="sng" dirty="0">
                <a:solidFill>
                  <a:srgbClr val="0000FF"/>
                </a:solidFill>
                <a:hlinkClick r:id="rId6"/>
              </a:rPr>
              <a:t>[27]</a:t>
            </a:r>
            <a:endParaRPr lang="en-US" sz="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4F4B8B-723E-28EC-1BF6-EC19385BFB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13169" y="530860"/>
            <a:ext cx="3824941" cy="4064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274320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30A18"/>
                </a:solidFill>
              </a:rPr>
              <a:t>AWS Hosting &amp; Scaling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0584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30A18"/>
                </a:solidFill>
              </a:defRPr>
            </a:pPr>
            <a:r>
              <a:t>Kubernetes on Amazon EKS enables horizontal scaling across worker nodes.</a:t>
            </a:r>
          </a:p>
          <a:p>
            <a:pPr>
              <a:spcAft>
                <a:spcPts val="400"/>
              </a:spcAft>
              <a:defRPr sz="1200">
                <a:solidFill>
                  <a:srgbClr val="030A18"/>
                </a:solidFill>
              </a:defRPr>
            </a:pPr>
            <a:r>
              <a:t>EKS control plane costs about $0.10 per hour (≈₹5,976/month).</a:t>
            </a:r>
          </a:p>
          <a:p>
            <a:pPr>
              <a:spcAft>
                <a:spcPts val="400"/>
              </a:spcAft>
              <a:defRPr sz="1200">
                <a:solidFill>
                  <a:srgbClr val="030A18"/>
                </a:solidFill>
              </a:defRPr>
            </a:pPr>
            <a:r>
              <a:t>Worker nodes: t3.medium (2 vCPUs, 4 GiB) cost $0.0416 per hour (≈₹2,486/node/month); start with three nodes.</a:t>
            </a:r>
          </a:p>
          <a:p>
            <a:pPr>
              <a:spcAft>
                <a:spcPts val="400"/>
              </a:spcAft>
              <a:defRPr sz="1200">
                <a:solidFill>
                  <a:srgbClr val="030A18"/>
                </a:solidFill>
              </a:defRPr>
            </a:pPr>
            <a:r>
              <a:t>AI model served on g4dn.xlarge GPU during peak hours at $0.526 per hour (≈₹10,478/month).</a:t>
            </a:r>
          </a:p>
          <a:p>
            <a:pPr>
              <a:spcAft>
                <a:spcPts val="400"/>
              </a:spcAft>
              <a:defRPr sz="1200">
                <a:solidFill>
                  <a:srgbClr val="030A18"/>
                </a:solidFill>
              </a:defRPr>
            </a:pPr>
            <a:r>
              <a:t>Storage: 100 GB EBS (gp3) ≈ $8 per month (≈₹664).</a:t>
            </a:r>
          </a:p>
          <a:p>
            <a:pPr>
              <a:spcAft>
                <a:spcPts val="400"/>
              </a:spcAft>
              <a:defRPr sz="1200">
                <a:solidFill>
                  <a:srgbClr val="030A18"/>
                </a:solidFill>
              </a:defRPr>
            </a:pPr>
            <a:r>
              <a:t>Total ~₹24,576/month for compute &amp; storage; scale horizontally by adding nodes when demand increases.</a:t>
            </a:r>
          </a:p>
          <a:p>
            <a:pPr>
              <a:spcAft>
                <a:spcPts val="400"/>
              </a:spcAft>
              <a:defRPr sz="1200">
                <a:solidFill>
                  <a:srgbClr val="030A18"/>
                </a:solidFill>
              </a:defRPr>
            </a:pPr>
            <a:r>
              <a:t>Optimise costs using spot instances and auto‑scaling.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120640" y="1005840"/>
          <a:ext cx="384048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30A18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D8E1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30A18"/>
                          </a:solidFill>
                        </a:defRPr>
                      </a:pPr>
                      <a:r>
                        <a:t>USD/mo</a:t>
                      </a:r>
                    </a:p>
                  </a:txBody>
                  <a:tcPr>
                    <a:solidFill>
                      <a:srgbClr val="D8E1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30A18"/>
                          </a:solidFill>
                        </a:defRPr>
                      </a:pPr>
                      <a:r>
                        <a:t>INR/mo</a:t>
                      </a:r>
                    </a:p>
                  </a:txBody>
                  <a:tcPr>
                    <a:solidFill>
                      <a:srgbClr val="D8E1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30A18"/>
                          </a:solidFill>
                        </a:defRPr>
                      </a:pPr>
                      <a:r>
                        <a:t>EKS control plane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30A18"/>
                          </a:solidFill>
                        </a:defRPr>
                      </a:pPr>
                      <a:r>
                        <a:t>$72.00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30A18"/>
                          </a:solidFill>
                        </a:defRPr>
                      </a:pPr>
                      <a:r>
                        <a:t>₹5,976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30A18"/>
                          </a:solidFill>
                        </a:defRPr>
                      </a:pPr>
                      <a:r>
                        <a:t>3× t3.medium workers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30A18"/>
                          </a:solidFill>
                        </a:defRPr>
                      </a:pPr>
                      <a:r>
                        <a:t>$89.86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30A18"/>
                          </a:solidFill>
                        </a:defRPr>
                      </a:pPr>
                      <a:r>
                        <a:t>₹7,458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30A18"/>
                          </a:solidFill>
                        </a:defRPr>
                      </a:pPr>
                      <a:r>
                        <a:t>g4dn.xlarge GPU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30A18"/>
                          </a:solidFill>
                        </a:defRPr>
                      </a:pPr>
                      <a:r>
                        <a:t>$126.24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30A18"/>
                          </a:solidFill>
                        </a:defRPr>
                      </a:pPr>
                      <a:r>
                        <a:t>₹10,478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30A18"/>
                          </a:solidFill>
                        </a:defRPr>
                      </a:pPr>
                      <a:r>
                        <a:t>100 GB EBS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30A18"/>
                          </a:solidFill>
                        </a:defRPr>
                      </a:pPr>
                      <a:r>
                        <a:t>$8.00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30A18"/>
                          </a:solidFill>
                        </a:defRPr>
                      </a:pPr>
                      <a:r>
                        <a:t>₹664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30A18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30A18"/>
                          </a:solidFill>
                        </a:defRPr>
                      </a:pPr>
                      <a:r>
                        <a:t>$296.10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30A18"/>
                          </a:solidFill>
                        </a:defRPr>
                      </a:pPr>
                      <a:r>
                        <a:t>₹24,576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" y="4800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030A18"/>
                </a:solidFill>
                <a:hlinkClick r:id="rId2"/>
              </a:rPr>
              <a:t>[28]</a:t>
            </a:r>
            <a:r>
              <a:t> </a:t>
            </a:r>
            <a:r>
              <a:rPr sz="600">
                <a:solidFill>
                  <a:srgbClr val="030A18"/>
                </a:solidFill>
                <a:hlinkClick r:id="rId3"/>
              </a:rPr>
              <a:t>[29]</a:t>
            </a:r>
            <a:r>
              <a:t> </a:t>
            </a:r>
            <a:r>
              <a:rPr sz="600">
                <a:solidFill>
                  <a:srgbClr val="030A18"/>
                </a:solidFill>
                <a:hlinkClick r:id="rId4"/>
              </a:rPr>
              <a:t>[30]</a:t>
            </a:r>
            <a:r>
              <a:t> </a:t>
            </a:r>
            <a:r>
              <a:rPr sz="600">
                <a:solidFill>
                  <a:srgbClr val="030A18"/>
                </a:solidFill>
                <a:hlinkClick r:id="rId5"/>
              </a:rPr>
              <a:t>[31]</a:t>
            </a:r>
            <a:r>
              <a:t> </a:t>
            </a:r>
            <a:r>
              <a:rPr sz="600">
                <a:solidFill>
                  <a:srgbClr val="030A18"/>
                </a:solidFill>
                <a:hlinkClick r:id="rId6"/>
              </a:rPr>
              <a:t>[32]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5360" y="452628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274320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30A18"/>
                </a:solidFill>
              </a:rPr>
              <a:t>Free Tier &amp; Credits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058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30A18"/>
                </a:solidFill>
              </a:defRPr>
            </a:pPr>
            <a:r>
              <a:t>AWS Free Tier provides 750 hours/month of t2.micro and t3.micro instances and 5 GB S3 storage.</a:t>
            </a:r>
          </a:p>
          <a:p>
            <a:pPr>
              <a:spcAft>
                <a:spcPts val="400"/>
              </a:spcAft>
              <a:defRPr sz="1200">
                <a:solidFill>
                  <a:srgbClr val="030A18"/>
                </a:solidFill>
              </a:defRPr>
            </a:pPr>
            <a:r>
              <a:t>Supports running a single micro instance 24/7 with modest storage; running multiple instances exceeds free allocation quickly.</a:t>
            </a:r>
          </a:p>
          <a:p>
            <a:pPr>
              <a:spcAft>
                <a:spcPts val="400"/>
              </a:spcAft>
              <a:defRPr sz="1200">
                <a:solidFill>
                  <a:srgbClr val="030A18"/>
                </a:solidFill>
              </a:defRPr>
            </a:pPr>
            <a:r>
              <a:t>AWS Activate credits award $1,000–$300,000 to eligible startups.</a:t>
            </a:r>
          </a:p>
          <a:p>
            <a:pPr>
              <a:spcAft>
                <a:spcPts val="400"/>
              </a:spcAft>
              <a:defRPr sz="1200">
                <a:solidFill>
                  <a:srgbClr val="030A18"/>
                </a:solidFill>
              </a:defRPr>
            </a:pPr>
            <a:r>
              <a:t>Partner programs (Mercury Bank, BEAMSTART) offer additional $5k–$10k in credits.</a:t>
            </a:r>
          </a:p>
          <a:p>
            <a:pPr>
              <a:spcAft>
                <a:spcPts val="400"/>
              </a:spcAft>
              <a:defRPr sz="1200">
                <a:solidFill>
                  <a:srgbClr val="030A18"/>
                </a:solidFill>
              </a:defRPr>
            </a:pPr>
            <a:r>
              <a:t>Plan: Apply for Activate and partner credits to cover 6 months of cloud costs and leverage free tier for non‑critical workloads.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577840" y="1005840"/>
            <a:ext cx="3474720" cy="2286000"/>
          </a:xfrm>
          <a:prstGeom prst="rect">
            <a:avLst/>
          </a:prstGeom>
          <a:solidFill>
            <a:srgbClr val="F5F5F5"/>
          </a:solidFill>
          <a:ln>
            <a:solidFill>
              <a:srgbClr val="D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30A18"/>
                </a:solidFill>
              </a:rPr>
              <a:t>6‑Month Free Strategy
</a:t>
            </a:r>
          </a:p>
          <a:p>
            <a:pPr>
              <a:spcAft>
                <a:spcPts val="200"/>
              </a:spcAft>
              <a:defRPr sz="1200">
                <a:solidFill>
                  <a:srgbClr val="030A18"/>
                </a:solidFill>
              </a:defRPr>
            </a:pPr>
            <a:r>
              <a:t>Use free tier micro instance for dev/test workloads.</a:t>
            </a:r>
          </a:p>
          <a:p>
            <a:pPr>
              <a:spcAft>
                <a:spcPts val="200"/>
              </a:spcAft>
              <a:defRPr sz="1200">
                <a:solidFill>
                  <a:srgbClr val="030A18"/>
                </a:solidFill>
              </a:defRPr>
            </a:pPr>
            <a:r>
              <a:t>Deploy production on credits; no out‑of‑pocket cost for 6 months.</a:t>
            </a:r>
          </a:p>
          <a:p>
            <a:pPr>
              <a:spcAft>
                <a:spcPts val="200"/>
              </a:spcAft>
              <a:defRPr sz="1200">
                <a:solidFill>
                  <a:srgbClr val="030A18"/>
                </a:solidFill>
              </a:defRPr>
            </a:pPr>
            <a:r>
              <a:t>After credits, switch to autoscaled spot instances for cost efficiency.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00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030A18"/>
                </a:solidFill>
                <a:hlinkClick r:id="rId2"/>
              </a:rPr>
              <a:t>[33]</a:t>
            </a:r>
            <a:r>
              <a:t> </a:t>
            </a:r>
            <a:r>
              <a:rPr sz="600">
                <a:solidFill>
                  <a:srgbClr val="030A18"/>
                </a:solidFill>
                <a:hlinkClick r:id="rId3"/>
              </a:rPr>
              <a:t>[34]</a:t>
            </a:r>
            <a:r>
              <a:t> </a:t>
            </a:r>
            <a:r>
              <a:rPr sz="600">
                <a:solidFill>
                  <a:srgbClr val="030A18"/>
                </a:solidFill>
                <a:hlinkClick r:id="rId4"/>
              </a:rPr>
              <a:t>[35]</a:t>
            </a:r>
            <a:r>
              <a:t> </a:t>
            </a:r>
            <a:r>
              <a:rPr sz="600">
                <a:solidFill>
                  <a:srgbClr val="030A18"/>
                </a:solidFill>
                <a:hlinkClick r:id="rId5"/>
              </a:rPr>
              <a:t>[36]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0" y="452628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274320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30A18"/>
                </a:solidFill>
              </a:rPr>
              <a:t>Initial Investment &amp; Financial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00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030A18"/>
                </a:solidFill>
                <a:hlinkClick r:id="rId2"/>
              </a:rPr>
              <a:t>[37]</a:t>
            </a:r>
            <a:r>
              <a:t> </a:t>
            </a:r>
            <a:r>
              <a:rPr sz="600">
                <a:solidFill>
                  <a:srgbClr val="030A18"/>
                </a:solidFill>
                <a:hlinkClick r:id="rId3"/>
              </a:rPr>
              <a:t>[38]</a:t>
            </a:r>
            <a:r>
              <a:t> </a:t>
            </a:r>
            <a:r>
              <a:rPr sz="600">
                <a:solidFill>
                  <a:srgbClr val="030A18"/>
                </a:solidFill>
                <a:hlinkClick r:id="rId4"/>
              </a:rPr>
              <a:t>[39]</a:t>
            </a:r>
            <a:r>
              <a:t> </a:t>
            </a:r>
            <a:r>
              <a:rPr sz="600">
                <a:solidFill>
                  <a:srgbClr val="030A18"/>
                </a:solidFill>
                <a:hlinkClick r:id="rId5"/>
              </a:rPr>
              <a:t>[40]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0" y="4526280"/>
            <a:ext cx="548640" cy="548640"/>
          </a:xfrm>
          <a:prstGeom prst="rect">
            <a:avLst/>
          </a:prstGeom>
        </p:spPr>
      </p:pic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274320" y="1371600"/>
          <a:ext cx="41148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0" y="1371600"/>
            <a:ext cx="4431021" cy="193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Arial"/>
              </a:defRPr>
            </a:pPr>
            <a:r>
              <a:rPr dirty="0"/>
              <a:t>Compute &amp; Storage (6 </a:t>
            </a:r>
            <a:r>
              <a:rPr dirty="0" err="1"/>
              <a:t>mo</a:t>
            </a:r>
            <a:r>
              <a:rPr dirty="0"/>
              <a:t>): ₹147,456</a:t>
            </a:r>
          </a:p>
          <a:p>
            <a:pPr>
              <a:defRPr sz="1200">
                <a:latin typeface="Arial"/>
              </a:defRPr>
            </a:pPr>
            <a:r>
              <a:rPr dirty="0"/>
              <a:t>Marketing &amp; Outreach: ₹60,000</a:t>
            </a:r>
          </a:p>
          <a:p>
            <a:pPr>
              <a:defRPr sz="1200">
                <a:latin typeface="Arial"/>
              </a:defRPr>
            </a:pPr>
            <a:r>
              <a:rPr dirty="0"/>
              <a:t>Admin &amp; R&amp;D: ₹40,000</a:t>
            </a:r>
          </a:p>
          <a:p>
            <a:pPr>
              <a:defRPr sz="1200">
                <a:latin typeface="Arial"/>
              </a:defRPr>
            </a:pPr>
            <a:r>
              <a:rPr dirty="0"/>
              <a:t>Buffer Reserve: ₹50,000</a:t>
            </a:r>
          </a:p>
          <a:p>
            <a:pPr>
              <a:defRPr sz="1200">
                <a:latin typeface="Arial"/>
              </a:defRPr>
            </a:pPr>
            <a:r>
              <a:rPr dirty="0"/>
              <a:t>Total initial investment: ₹297,456</a:t>
            </a:r>
          </a:p>
          <a:p>
            <a:pPr>
              <a:defRPr sz="1200">
                <a:latin typeface="Arial"/>
              </a:defRPr>
            </a:pPr>
            <a:r>
              <a:rPr dirty="0"/>
              <a:t>Leverage AWS credits to cover cloud costs </a:t>
            </a:r>
            <a:endParaRPr lang="en-US" dirty="0"/>
          </a:p>
          <a:p>
            <a:pPr>
              <a:defRPr sz="1200">
                <a:latin typeface="Arial"/>
              </a:defRPr>
            </a:pPr>
            <a:r>
              <a:rPr dirty="0"/>
              <a:t>during first six months.</a:t>
            </a:r>
          </a:p>
          <a:p>
            <a:pPr>
              <a:defRPr sz="1200">
                <a:latin typeface="Arial"/>
              </a:defRPr>
            </a:pPr>
            <a:r>
              <a:rPr dirty="0"/>
              <a:t>Allocate marketing funds to digital campaigns and pilot demos.</a:t>
            </a:r>
          </a:p>
          <a:p>
            <a:pPr>
              <a:defRPr sz="1200">
                <a:latin typeface="Arial"/>
              </a:defRPr>
            </a:pPr>
            <a:r>
              <a:rPr dirty="0"/>
              <a:t>Use contingency reserve to handle unexpected </a:t>
            </a:r>
            <a:endParaRPr lang="en-US" dirty="0"/>
          </a:p>
          <a:p>
            <a:pPr>
              <a:defRPr sz="1200">
                <a:latin typeface="Arial"/>
              </a:defRPr>
            </a:pPr>
            <a:r>
              <a:rPr dirty="0"/>
              <a:t>expenses and scale.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1277</Words>
  <Application>Microsoft Macintosh PowerPoint</Application>
  <PresentationFormat>On-screen Show (16:9)</PresentationFormat>
  <Paragraphs>197</Paragraphs>
  <Slides>15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savin padencherry</cp:lastModifiedBy>
  <cp:revision>4</cp:revision>
  <dcterms:created xsi:type="dcterms:W3CDTF">2025-09-06T09:42:54Z</dcterms:created>
  <dcterms:modified xsi:type="dcterms:W3CDTF">2025-09-07T18:11:06Z</dcterms:modified>
</cp:coreProperties>
</file>